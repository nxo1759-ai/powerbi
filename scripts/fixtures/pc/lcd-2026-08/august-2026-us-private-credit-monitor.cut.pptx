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4.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37.xml" ContentType="application/vnd.openxmlformats-officedocument.presentationml.slide+xml"/>
  <Override PartName="/ppt/slides/slide40.xml" ContentType="application/vnd.openxmlformats-officedocument.presentationml.slide+xml"/>
  <Override PartName="/ppt/charts/chart1.xml" ContentType="application/vnd.openxmlformats-officedocument.drawingml.chart+xml"/>
  <Override PartName="/ppt/drawings/drawing1.xml" ContentType="application/vnd.openxmlformats-officedocument.drawingml.chartshapes+xml"/>
  <Override PartName="/ppt/charts/chart11.xml" ContentType="application/vnd.openxmlformats-officedocument.drawingml.chart+xml"/>
  <Override PartName="/ppt/charts/chart27.xml" ContentType="application/vnd.openxmlformats-officedocument.drawingml.chart+xml"/>
  <Override PartName="/ppt/charts/chart30.xml" ContentType="application/vnd.openxmlformats-officedocument.drawingml.chart+xml"/>
  <Override PartName="/ppt/drawings/drawing21.xml" ContentType="application/vnd.openxmlformats-officedocument.drawingml.chartshapes+xml"/>
  <Override PartName="/docProps/core.xml" ContentType="application/vnd.openxmlformats-package.core-properties+xml"/>
</Type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3"/>
    <p:sldMasterId id="2147483676" r:id="rId4"/>
    <p:sldMasterId id="2147483675" r:id="rId5"/>
    <p:sldMasterId id="2147483689" r:id="rId6"/>
    <p:sldMasterId id="2147483674" r:id="rId7"/>
    <p:sldMasterId id="2147483673" r:id="rId8"/>
    <p:sldMasterId id="2147483671" r:id="rId9"/>
    <p:sldMasterId id="2147483672" r:id="rId10"/>
    <p:sldMasterId id="2147483685" r:id="rId11"/>
    <p:sldMasterId id="2147483687" r:id="rId12"/>
    <p:sldMasterId id="2147483684" r:id="rId13"/>
  </p:sldMasterIdLst>
  <p:notesMasterIdLst>
    <p:notesMasterId r:id="rId57"/>
  </p:notesMasterIdLst>
  <p:handoutMasterIdLst>
    <p:handoutMasterId r:id="rId58"/>
  </p:handoutMasterIdLst>
  <p:sldIdLst>
    <p:sldId id="260" r:id="rId14"/>
    <p:sldId id="286" r:id="rId17"/>
    <p:sldId id="332" r:id="rId28"/>
    <p:sldId id="344" r:id="rId46"/>
    <p:sldId id="281" r:id="rId50"/>
    <p:sldId id="285" r:id="rId53"/>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325B2E5-28CD-43E7-B6BC-E88FDC457FCD}">
          <p14:sldIdLst>
            <p14:sldId id="260"/>
            <p14:sldId id="365"/>
          </p14:sldIdLst>
        </p14:section>
        <p14:section name="Takeaways" id="{C28228EE-6769-45BB-8704-74917261269B}">
          <p14:sldIdLst/>
        </p14:section>
        <p14:section name="Volume &amp; Counts" id="{53E49320-1CE6-49D8-9CE5-5BCAC7CDD3C4}">
          <p14:sldIdLst>
            <p14:sldId id="289"/>
          </p14:sldIdLst>
        </p14:section>
        <p14:section name="All Count/Vol" id="{883B814C-BE54-495F-A046-84F8E7041653}">
          <p14:sldIdLst>
            <p14:sldId id="286"/>
            <p14:sldId id="355"/>
          </p14:sldIdLst>
        </p14:section>
        <p14:section name="PE Backed Count/Vol" id="{5AD4FF8C-461F-4240-88A8-A426419EC048}">
          <p14:sldIdLst>
            <p14:sldId id="313"/>
            <p14:sldId id="314"/>
            <p14:sldId id="339"/>
          </p14:sldIdLst>
        </p14:section>
        <p14:section name="LBO Count/Volume" id="{515C2315-C7F0-4351-A542-7928FDE616EA}">
          <p14:sldIdLst>
            <p14:sldId id="330"/>
            <p14:sldId id="317"/>
            <p14:sldId id="366"/>
          </p14:sldIdLst>
        </p14:section>
        <p14:section name="Spreads" id="{03E21404-BDAD-4743-B00F-FA2A55029B8C}">
          <p14:sldIdLst>
            <p14:sldId id="304"/>
            <p14:sldId id="282"/>
            <p14:sldId id="280"/>
            <p14:sldId id="332"/>
            <p14:sldId id="337"/>
            <p14:sldId id="283"/>
            <p14:sldId id="361"/>
            <p14:sldId id="362"/>
          </p14:sldIdLst>
        </p14:section>
        <p14:section name="BSL/DL" id="{4B0EF61F-EE3F-4B39-AD78-4B736F3C0B3E}">
          <p14:sldIdLst>
            <p14:sldId id="322"/>
            <p14:sldId id="329"/>
            <p14:sldId id="324"/>
            <p14:sldId id="328"/>
            <p14:sldId id="325"/>
            <p14:sldId id="343"/>
          </p14:sldIdLst>
        </p14:section>
        <p14:section name="BDCs" id="{DC6F8518-0A1B-42D0-8705-C622D98E23E8}">
          <p14:sldIdLst>
            <p14:sldId id="296"/>
            <p14:sldId id="298"/>
            <p14:sldId id="299"/>
            <p14:sldId id="333"/>
            <p14:sldId id="356"/>
            <p14:sldId id="341"/>
            <p14:sldId id="342"/>
            <p14:sldId id="344"/>
          </p14:sldIdLst>
        </p14:section>
        <p14:section name="AUM" id="{1E2F509E-B370-4BE1-8BB5-679C906A5B9E}">
          <p14:sldIdLst>
            <p14:sldId id="301"/>
            <p14:sldId id="358"/>
            <p14:sldId id="359"/>
            <p14:sldId id="281"/>
          </p14:sldIdLst>
        </p14:section>
        <p14:section name="BSL DL Takeouts" id="{29DBE616-CAC6-4F2F-8D76-DD45ADC65A91}">
          <p14:sldIdLst>
            <p14:sldId id="305"/>
            <p14:sldId id="276"/>
            <p14:sldId id="285"/>
            <p14:sldId id="284"/>
          </p14:sldIdLst>
        </p14:section>
        <p14:section name="Methodology" id="{122C3F04-C48C-4D29-8026-22D76EF99EA6}">
          <p14:sldIdLst>
            <p14:sldId id="308"/>
            <p14:sldId id="320"/>
          </p14:sldIdLst>
        </p14:section>
      </p14:sectionLst>
    </p:ext>
    <p:ext uri="{EFAFB233-063F-42B5-8137-9DF3F51BA10A}">
      <p15:sldGuideLst xmlns:p15="http://schemas.microsoft.com/office/powerpoint/2012/main">
        <p15:guide id="1" orient="horz" pos="4992" userDrawn="1">
          <p15:clr>
            <a:srgbClr val="A4A3A4"/>
          </p15:clr>
        </p15:guide>
        <p15:guide id="2" pos="4608">
          <p15:clr>
            <a:srgbClr val="A4A3A4"/>
          </p15:clr>
        </p15:guide>
      </p15:sldGuideLst>
    </p:ext>
    <p:ext uri="{2D200454-40CA-4A62-9FC3-DE9A4176ACB9}">
      <p15:notesGuideLst xmlns:p15="http://schemas.microsoft.com/office/powerpoint/2012/main"/>
    </p:ext>
  </p:extLst>
</p:presentation>
</file>

<file path=ppt/_rels/presentation.xml.rels><?xml version="1.0" encoding="UTF-8" standalone="yes"?>
<Relationships xmlns="http://schemas.openxmlformats.org/package/2006/relationships"><Relationship Id="rId50" Type="http://schemas.openxmlformats.org/officeDocument/2006/relationships/slide" Target="slides/slide37.xml"/><Relationship Id="rId53" Type="http://schemas.openxmlformats.org/officeDocument/2006/relationships/slide" Target="slides/slide40.xml"/><Relationship Id="rId14" Type="http://schemas.openxmlformats.org/officeDocument/2006/relationships/slide" Target="slides/slide1.xml"/><Relationship Id="rId17" Type="http://schemas.openxmlformats.org/officeDocument/2006/relationships/slide" Target="slides/slide4.xml"/><Relationship Id="rId46" Type="http://schemas.openxmlformats.org/officeDocument/2006/relationships/slide" Target="slides/slide33.xml"/><Relationship Id="rId28" Type="http://schemas.openxmlformats.org/officeDocument/2006/relationships/slide" Target="slides/slide15.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4.xml"/><Relationship Id="rId1" Type="http://schemas.microsoft.com/office/2011/relationships/chartStyle" Target="style4.xml"/></Relationships>
</file>

<file path=ppt/charts/_rels/chart27.xml.rels><?xml version="1.0" encoding="UTF-8" standalone="yes"?>
<Relationships xmlns="http://schemas.openxmlformats.org/package/2006/relationships"><Relationship Id="rId3" Type="http://schemas.openxmlformats.org/officeDocument/2006/relationships/package" Target="../embeddings/Microsoft_Excel_Worksheet26.xlsx"/><Relationship Id="rId2" Type="http://schemas.microsoft.com/office/2011/relationships/chartColorStyle" Target="colors11.xml"/><Relationship Id="rId1" Type="http://schemas.microsoft.com/office/2011/relationships/chartStyle" Target="style11.xml"/></Relationships>
</file>

<file path=ppt/charts/_rels/chart30.xml.rels><?xml version="1.0" encoding="UTF-8" standalone="yes"?>
<Relationships xmlns="http://schemas.openxmlformats.org/package/2006/relationships"><Relationship Id="rId2" Type="http://schemas.openxmlformats.org/officeDocument/2006/relationships/chartUserShapes" Target="../drawings/drawing21.xml"/><Relationship Id="rId1" Type="http://schemas.openxmlformats.org/officeDocument/2006/relationships/package" Target="../embeddings/Microsoft_Excel_Worksheet2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2.2641225244571701E-2"/>
          <c:y val="2.3275858733211325E-2"/>
          <c:w val="0.95488121868289189"/>
          <c:h val="0.80903251676873711"/>
        </c:manualLayout>
      </c:layout>
      <c:barChart>
        <c:barDir val="col"/>
        <c:grouping val="clustered"/>
        <c:varyColors val="0"/>
        <c:ser>
          <c:idx val="2"/>
          <c:order val="2"/>
          <c:tx>
            <c:strRef>
              <c:f>'New Issue All Volume Q'!$L$1</c:f>
              <c:strCache>
                <c:ptCount val="1"/>
                <c:pt idx="0">
                  <c:v>Count</c:v>
                </c:pt>
              </c:strCache>
            </c:strRef>
          </c:tx>
          <c:spPr>
            <a:solidFill>
              <a:srgbClr val="40C2C9"/>
            </a:solidFill>
          </c:spPr>
          <c:invertIfNegative val="0"/>
          <c:cat>
            <c:strRef>
              <c:f>'New Issue All Volume Q'!$I$2:$I$28</c:f>
              <c:strCache>
                <c:ptCount val="27"/>
                <c:pt idx="0">
                  <c:v>1Q20</c:v>
                </c:pt>
                <c:pt idx="1">
                  <c:v>2Q20</c:v>
                </c:pt>
                <c:pt idx="2">
                  <c:v>3Q20</c:v>
                </c:pt>
                <c:pt idx="3">
                  <c:v>4Q20</c:v>
                </c:pt>
                <c:pt idx="4">
                  <c:v>1Q21</c:v>
                </c:pt>
                <c:pt idx="5">
                  <c:v>2Q21</c:v>
                </c:pt>
                <c:pt idx="6">
                  <c:v>3Q21</c:v>
                </c:pt>
                <c:pt idx="7">
                  <c:v>4Q21</c:v>
                </c:pt>
                <c:pt idx="8">
                  <c:v>1Q22</c:v>
                </c:pt>
                <c:pt idx="9">
                  <c:v>2Q22</c:v>
                </c:pt>
                <c:pt idx="10">
                  <c:v>3Q22</c:v>
                </c:pt>
                <c:pt idx="11">
                  <c:v>4Q22</c:v>
                </c:pt>
                <c:pt idx="12">
                  <c:v>1Q23</c:v>
                </c:pt>
                <c:pt idx="13">
                  <c:v>2Q23</c:v>
                </c:pt>
                <c:pt idx="14">
                  <c:v>3Q23</c:v>
                </c:pt>
                <c:pt idx="15">
                  <c:v>4Q23</c:v>
                </c:pt>
                <c:pt idx="16">
                  <c:v>1Q24</c:v>
                </c:pt>
                <c:pt idx="17">
                  <c:v>2Q24</c:v>
                </c:pt>
                <c:pt idx="18">
                  <c:v>3Q24</c:v>
                </c:pt>
                <c:pt idx="19">
                  <c:v>4Q24</c:v>
                </c:pt>
                <c:pt idx="20">
                  <c:v>1Q25</c:v>
                </c:pt>
                <c:pt idx="21">
                  <c:v>2Q25</c:v>
                </c:pt>
                <c:pt idx="22">
                  <c:v>3Q25</c:v>
                </c:pt>
                <c:pt idx="23">
                  <c:v>4Q25</c:v>
                </c:pt>
                <c:pt idx="24">
                  <c:v>1Q26</c:v>
                </c:pt>
                <c:pt idx="25">
                  <c:v>2Q26</c:v>
                </c:pt>
                <c:pt idx="26">
                  <c:v>Last 3 Months</c:v>
                </c:pt>
              </c:strCache>
            </c:strRef>
          </c:cat>
          <c:val>
            <c:numRef>
              <c:f>'New Issue All Volume Q'!$L$2:$L$28</c:f>
              <c:numCache>
                <c:formatCode>#,##0</c:formatCode>
                <c:ptCount val="27"/>
                <c:pt idx="0">
                  <c:v>112</c:v>
                </c:pt>
                <c:pt idx="1">
                  <c:v>54</c:v>
                </c:pt>
                <c:pt idx="2">
                  <c:v>56</c:v>
                </c:pt>
                <c:pt idx="3">
                  <c:v>96</c:v>
                </c:pt>
                <c:pt idx="4">
                  <c:v>94</c:v>
                </c:pt>
                <c:pt idx="5">
                  <c:v>131</c:v>
                </c:pt>
                <c:pt idx="6">
                  <c:v>144</c:v>
                </c:pt>
                <c:pt idx="7">
                  <c:v>192</c:v>
                </c:pt>
                <c:pt idx="8">
                  <c:v>176</c:v>
                </c:pt>
                <c:pt idx="9">
                  <c:v>152</c:v>
                </c:pt>
                <c:pt idx="10">
                  <c:v>157</c:v>
                </c:pt>
                <c:pt idx="11">
                  <c:v>116</c:v>
                </c:pt>
                <c:pt idx="12">
                  <c:v>132</c:v>
                </c:pt>
                <c:pt idx="13">
                  <c:v>124</c:v>
                </c:pt>
                <c:pt idx="14">
                  <c:v>151</c:v>
                </c:pt>
                <c:pt idx="15">
                  <c:v>197</c:v>
                </c:pt>
                <c:pt idx="16">
                  <c:v>236</c:v>
                </c:pt>
                <c:pt idx="17">
                  <c:v>281</c:v>
                </c:pt>
                <c:pt idx="18">
                  <c:v>238</c:v>
                </c:pt>
                <c:pt idx="19">
                  <c:v>259</c:v>
                </c:pt>
                <c:pt idx="20">
                  <c:v>234</c:v>
                </c:pt>
                <c:pt idx="21">
                  <c:v>225</c:v>
                </c:pt>
                <c:pt idx="22">
                  <c:v>207</c:v>
                </c:pt>
                <c:pt idx="23">
                  <c:v>210</c:v>
                </c:pt>
                <c:pt idx="24">
                  <c:v>223</c:v>
                </c:pt>
                <c:pt idx="25">
                  <c:v>172</c:v>
                </c:pt>
                <c:pt idx="26" formatCode="#,##0.00">
                  <c:v>200</c:v>
                </c:pt>
              </c:numCache>
            </c:numRef>
          </c:val>
          <c:extLst>
            <c:ext xmlns:c16="http://schemas.microsoft.com/office/drawing/2014/chart" uri="{C3380CC4-5D6E-409C-BE32-E72D297353CC}">
              <c16:uniqueId val="{00000000-A878-4E53-BC38-85C7D77F7CEA}"/>
            </c:ext>
          </c:extLst>
        </c:ser>
        <c:dLbls>
          <c:showLegendKey val="0"/>
          <c:showVal val="0"/>
          <c:showCatName val="0"/>
          <c:showSerName val="0"/>
          <c:showPercent val="0"/>
          <c:showBubbleSize val="0"/>
        </c:dLbls>
        <c:gapWidth val="60"/>
        <c:axId val="123647488"/>
        <c:axId val="123649024"/>
        <c:extLst>
          <c:ext xmlns:c15="http://schemas.microsoft.com/office/drawing/2012/chart" uri="{02D57815-91ED-43cb-92C2-25804820EDAC}">
            <c15:filteredBarSeries>
              <c15:ser>
                <c:idx val="0"/>
                <c:order val="0"/>
                <c:tx>
                  <c:strRef>
                    <c:extLst>
                      <c:ext uri="{02D57815-91ED-43cb-92C2-25804820EDAC}">
                        <c15:formulaRef>
                          <c15:sqref>'New Issue All Volume Q'!$J$1</c15:sqref>
                        </c15:formulaRef>
                      </c:ext>
                    </c:extLst>
                    <c:strCache>
                      <c:ptCount val="1"/>
                    </c:strCache>
                  </c:strRef>
                </c:tx>
                <c:spPr>
                  <a:solidFill>
                    <a:srgbClr val="40C2C9"/>
                  </a:solidFill>
                  <a:ln w="12700">
                    <a:noFill/>
                    <a:prstDash val="solid"/>
                  </a:ln>
                </c:spPr>
                <c:invertIfNegative val="0"/>
                <c:cat>
                  <c:strRef>
                    <c:extLst>
                      <c:ext uri="{02D57815-91ED-43cb-92C2-25804820EDAC}">
                        <c15:formulaRef>
                          <c15:sqref>'New Issue All Volume Q'!$I$2:$I$28</c15:sqref>
                        </c15:formulaRef>
                      </c:ext>
                    </c:extLst>
                    <c:strCache>
                      <c:ptCount val="27"/>
                      <c:pt idx="0">
                        <c:v>1Q20</c:v>
                      </c:pt>
                      <c:pt idx="1">
                        <c:v>2Q20</c:v>
                      </c:pt>
                      <c:pt idx="2">
                        <c:v>3Q20</c:v>
                      </c:pt>
                      <c:pt idx="3">
                        <c:v>4Q20</c:v>
                      </c:pt>
                      <c:pt idx="4">
                        <c:v>1Q21</c:v>
                      </c:pt>
                      <c:pt idx="5">
                        <c:v>2Q21</c:v>
                      </c:pt>
                      <c:pt idx="6">
                        <c:v>3Q21</c:v>
                      </c:pt>
                      <c:pt idx="7">
                        <c:v>4Q21</c:v>
                      </c:pt>
                      <c:pt idx="8">
                        <c:v>1Q22</c:v>
                      </c:pt>
                      <c:pt idx="9">
                        <c:v>2Q22</c:v>
                      </c:pt>
                      <c:pt idx="10">
                        <c:v>3Q22</c:v>
                      </c:pt>
                      <c:pt idx="11">
                        <c:v>4Q22</c:v>
                      </c:pt>
                      <c:pt idx="12">
                        <c:v>1Q23</c:v>
                      </c:pt>
                      <c:pt idx="13">
                        <c:v>2Q23</c:v>
                      </c:pt>
                      <c:pt idx="14">
                        <c:v>3Q23</c:v>
                      </c:pt>
                      <c:pt idx="15">
                        <c:v>4Q23</c:v>
                      </c:pt>
                      <c:pt idx="16">
                        <c:v>1Q24</c:v>
                      </c:pt>
                      <c:pt idx="17">
                        <c:v>2Q24</c:v>
                      </c:pt>
                      <c:pt idx="18">
                        <c:v>3Q24</c:v>
                      </c:pt>
                      <c:pt idx="19">
                        <c:v>4Q24</c:v>
                      </c:pt>
                      <c:pt idx="20">
                        <c:v>1Q25</c:v>
                      </c:pt>
                      <c:pt idx="21">
                        <c:v>2Q25</c:v>
                      </c:pt>
                      <c:pt idx="22">
                        <c:v>3Q25</c:v>
                      </c:pt>
                      <c:pt idx="23">
                        <c:v>4Q25</c:v>
                      </c:pt>
                      <c:pt idx="24">
                        <c:v>1Q26</c:v>
                      </c:pt>
                      <c:pt idx="25">
                        <c:v>2Q26</c:v>
                      </c:pt>
                      <c:pt idx="26">
                        <c:v>Last 3 Months</c:v>
                      </c:pt>
                    </c:strCache>
                  </c:strRef>
                </c:cat>
                <c:val>
                  <c:numRef>
                    <c:extLst>
                      <c:ext uri="{02D57815-91ED-43cb-92C2-25804820EDAC}">
                        <c15:formulaRef>
                          <c15:sqref>'New Issue All Volume Q'!$J$2:$J$28</c15:sqref>
                        </c15:formulaRef>
                      </c:ext>
                    </c:extLst>
                    <c:numCache>
                      <c:formatCode>General</c:formatCode>
                      <c:ptCount val="27"/>
                    </c:numCache>
                  </c:numRef>
                </c:val>
                <c:extLst>
                  <c:ext xmlns:c16="http://schemas.microsoft.com/office/drawing/2014/chart" uri="{C3380CC4-5D6E-409C-BE32-E72D297353CC}">
                    <c16:uniqueId val="{00000002-A878-4E53-BC38-85C7D77F7CEA}"/>
                  </c:ext>
                </c:extLst>
              </c15:ser>
            </c15:filteredBarSeries>
          </c:ext>
        </c:extLst>
      </c:barChart>
      <c:lineChart>
        <c:grouping val="standard"/>
        <c:varyColors val="0"/>
        <c:ser>
          <c:idx val="1"/>
          <c:order val="1"/>
          <c:tx>
            <c:strRef>
              <c:f>'New Issue All Volume Q'!$K$1</c:f>
              <c:strCache>
                <c:ptCount val="1"/>
                <c:pt idx="0">
                  <c:v>Estimated volume</c:v>
                </c:pt>
              </c:strCache>
            </c:strRef>
          </c:tx>
          <c:spPr>
            <a:ln w="38100">
              <a:solidFill>
                <a:srgbClr val="F5C914"/>
              </a:solidFill>
            </a:ln>
          </c:spPr>
          <c:marker>
            <c:symbol val="none"/>
          </c:marker>
          <c:cat>
            <c:strRef>
              <c:f>'New Issue All Volume Q'!$I$2:$I$28</c:f>
              <c:strCache>
                <c:ptCount val="27"/>
                <c:pt idx="0">
                  <c:v>1Q20</c:v>
                </c:pt>
                <c:pt idx="1">
                  <c:v>2Q20</c:v>
                </c:pt>
                <c:pt idx="2">
                  <c:v>3Q20</c:v>
                </c:pt>
                <c:pt idx="3">
                  <c:v>4Q20</c:v>
                </c:pt>
                <c:pt idx="4">
                  <c:v>1Q21</c:v>
                </c:pt>
                <c:pt idx="5">
                  <c:v>2Q21</c:v>
                </c:pt>
                <c:pt idx="6">
                  <c:v>3Q21</c:v>
                </c:pt>
                <c:pt idx="7">
                  <c:v>4Q21</c:v>
                </c:pt>
                <c:pt idx="8">
                  <c:v>1Q22</c:v>
                </c:pt>
                <c:pt idx="9">
                  <c:v>2Q22</c:v>
                </c:pt>
                <c:pt idx="10">
                  <c:v>3Q22</c:v>
                </c:pt>
                <c:pt idx="11">
                  <c:v>4Q22</c:v>
                </c:pt>
                <c:pt idx="12">
                  <c:v>1Q23</c:v>
                </c:pt>
                <c:pt idx="13">
                  <c:v>2Q23</c:v>
                </c:pt>
                <c:pt idx="14">
                  <c:v>3Q23</c:v>
                </c:pt>
                <c:pt idx="15">
                  <c:v>4Q23</c:v>
                </c:pt>
                <c:pt idx="16">
                  <c:v>1Q24</c:v>
                </c:pt>
                <c:pt idx="17">
                  <c:v>2Q24</c:v>
                </c:pt>
                <c:pt idx="18">
                  <c:v>3Q24</c:v>
                </c:pt>
                <c:pt idx="19">
                  <c:v>4Q24</c:v>
                </c:pt>
                <c:pt idx="20">
                  <c:v>1Q25</c:v>
                </c:pt>
                <c:pt idx="21">
                  <c:v>2Q25</c:v>
                </c:pt>
                <c:pt idx="22">
                  <c:v>3Q25</c:v>
                </c:pt>
                <c:pt idx="23">
                  <c:v>4Q25</c:v>
                </c:pt>
                <c:pt idx="24">
                  <c:v>1Q26</c:v>
                </c:pt>
                <c:pt idx="25">
                  <c:v>2Q26</c:v>
                </c:pt>
                <c:pt idx="26">
                  <c:v>Last 3 Months</c:v>
                </c:pt>
              </c:strCache>
            </c:strRef>
          </c:cat>
          <c:val>
            <c:numRef>
              <c:f>'New Issue All Volume Q'!$K$2:$K$28</c:f>
              <c:numCache>
                <c:formatCode>#,##0.00</c:formatCode>
                <c:ptCount val="27"/>
                <c:pt idx="0">
                  <c:v>22.716876298000003</c:v>
                </c:pt>
                <c:pt idx="1">
                  <c:v>13.375101440000002</c:v>
                </c:pt>
                <c:pt idx="2">
                  <c:v>11.730682999999999</c:v>
                </c:pt>
                <c:pt idx="3">
                  <c:v>17.76878</c:v>
                </c:pt>
                <c:pt idx="4">
                  <c:v>18.799087</c:v>
                </c:pt>
                <c:pt idx="5">
                  <c:v>26.740407000000001</c:v>
                </c:pt>
                <c:pt idx="6">
                  <c:v>32.074984044000004</c:v>
                </c:pt>
                <c:pt idx="7">
                  <c:v>57.520172134999996</c:v>
                </c:pt>
                <c:pt idx="8">
                  <c:v>35.707535000000007</c:v>
                </c:pt>
                <c:pt idx="9">
                  <c:v>54.506573689</c:v>
                </c:pt>
                <c:pt idx="10">
                  <c:v>32.166460575000002</c:v>
                </c:pt>
                <c:pt idx="11">
                  <c:v>28.565121999999999</c:v>
                </c:pt>
                <c:pt idx="12">
                  <c:v>23.268834000000002</c:v>
                </c:pt>
                <c:pt idx="13">
                  <c:v>29.18778</c:v>
                </c:pt>
                <c:pt idx="14">
                  <c:v>53.394367263999996</c:v>
                </c:pt>
                <c:pt idx="15">
                  <c:v>52.865207000000012</c:v>
                </c:pt>
                <c:pt idx="16">
                  <c:v>61.503710251000001</c:v>
                </c:pt>
                <c:pt idx="17">
                  <c:v>88.057485</c:v>
                </c:pt>
                <c:pt idx="18">
                  <c:v>66.973987539999996</c:v>
                </c:pt>
                <c:pt idx="19">
                  <c:v>70.139908999999989</c:v>
                </c:pt>
                <c:pt idx="20">
                  <c:v>59.921462986999998</c:v>
                </c:pt>
                <c:pt idx="21">
                  <c:v>66.643814789999993</c:v>
                </c:pt>
                <c:pt idx="22">
                  <c:v>69.119833999999997</c:v>
                </c:pt>
                <c:pt idx="23">
                  <c:v>72.696266844000007</c:v>
                </c:pt>
                <c:pt idx="24">
                  <c:v>75.599875362999995</c:v>
                </c:pt>
                <c:pt idx="25">
                  <c:v>36.814436239999999</c:v>
                </c:pt>
                <c:pt idx="26">
                  <c:v>48.598540240000005</c:v>
                </c:pt>
              </c:numCache>
            </c:numRef>
          </c:val>
          <c:smooth val="0"/>
          <c:extLst>
            <c:ext xmlns:c16="http://schemas.microsoft.com/office/drawing/2014/chart" uri="{C3380CC4-5D6E-409C-BE32-E72D297353CC}">
              <c16:uniqueId val="{00000001-A878-4E53-BC38-85C7D77F7CEA}"/>
            </c:ext>
          </c:extLst>
        </c:ser>
        <c:dLbls>
          <c:showLegendKey val="0"/>
          <c:showVal val="0"/>
          <c:showCatName val="0"/>
          <c:showSerName val="0"/>
          <c:showPercent val="0"/>
          <c:showBubbleSize val="0"/>
        </c:dLbls>
        <c:marker val="1"/>
        <c:smooth val="0"/>
        <c:axId val="829219696"/>
        <c:axId val="829221992"/>
      </c:lineChart>
      <c:catAx>
        <c:axId val="123647488"/>
        <c:scaling>
          <c:orientation val="minMax"/>
        </c:scaling>
        <c:delete val="0"/>
        <c:axPos val="b"/>
        <c:numFmt formatCode="[$-409]mmm\ yyyy;@" sourceLinked="0"/>
        <c:majorTickMark val="none"/>
        <c:minorTickMark val="none"/>
        <c:tickLblPos val="nextTo"/>
        <c:spPr>
          <a:noFill/>
          <a:ln w="6350">
            <a:solidFill>
              <a:schemeClr val="tx1"/>
            </a:solidFill>
            <a:prstDash val="solid"/>
          </a:ln>
        </c:spPr>
        <c:txPr>
          <a:bodyPr rot="0" vert="horz"/>
          <a:lstStyle/>
          <a:p>
            <a:pPr rtl="1">
              <a:defRPr sz="1200" b="0" i="0" u="none" strike="noStrike" baseline="0">
                <a:solidFill>
                  <a:schemeClr val="tx1"/>
                </a:solidFill>
                <a:latin typeface="Arial Narrow"/>
                <a:ea typeface="Arial Narrow"/>
                <a:cs typeface="Arial Narrow"/>
              </a:defRPr>
            </a:pPr>
            <a:endParaRPr lang="en-US"/>
          </a:p>
        </c:txPr>
        <c:crossAx val="123649024"/>
        <c:crosses val="autoZero"/>
        <c:auto val="0"/>
        <c:lblAlgn val="ctr"/>
        <c:lblOffset val="0"/>
        <c:noMultiLvlLbl val="0"/>
      </c:catAx>
      <c:valAx>
        <c:axId val="123649024"/>
        <c:scaling>
          <c:orientation val="minMax"/>
        </c:scaling>
        <c:delete val="0"/>
        <c:axPos val="l"/>
        <c:numFmt formatCode="General" sourceLinked="0"/>
        <c:majorTickMark val="out"/>
        <c:minorTickMark val="none"/>
        <c:tickLblPos val="low"/>
        <c:spPr>
          <a:noFill/>
          <a:ln w="3175">
            <a:noFill/>
            <a:prstDash val="solid"/>
          </a:ln>
        </c:spPr>
        <c:txPr>
          <a:bodyPr rot="0" vert="horz"/>
          <a:lstStyle/>
          <a:p>
            <a:pPr rtl="1">
              <a:defRPr sz="1200" b="0" i="0" u="none" strike="noStrike" baseline="0">
                <a:solidFill>
                  <a:schemeClr val="tx1"/>
                </a:solidFill>
                <a:latin typeface="Arial Narrow"/>
                <a:ea typeface="Arial Narrow"/>
                <a:cs typeface="Arial Narrow"/>
              </a:defRPr>
            </a:pPr>
            <a:endParaRPr lang="en-US"/>
          </a:p>
        </c:txPr>
        <c:crossAx val="123647488"/>
        <c:crosses val="autoZero"/>
        <c:crossBetween val="between"/>
        <c:majorUnit val="60"/>
      </c:valAx>
      <c:valAx>
        <c:axId val="829221992"/>
        <c:scaling>
          <c:orientation val="minMax"/>
          <c:max val="100"/>
        </c:scaling>
        <c:delete val="0"/>
        <c:axPos val="r"/>
        <c:numFmt formatCode="&quot;$&quot;#,##0" sourceLinked="0"/>
        <c:majorTickMark val="out"/>
        <c:minorTickMark val="none"/>
        <c:tickLblPos val="high"/>
        <c:spPr>
          <a:ln>
            <a:noFill/>
          </a:ln>
        </c:spPr>
        <c:txPr>
          <a:bodyPr/>
          <a:lstStyle/>
          <a:p>
            <a:pPr>
              <a:defRPr sz="1200" baseline="0">
                <a:solidFill>
                  <a:schemeClr val="tx1"/>
                </a:solidFill>
                <a:latin typeface="Arial Narrow"/>
                <a:ea typeface="Arial Narrow"/>
                <a:cs typeface="Arial Narrow"/>
              </a:defRPr>
            </a:pPr>
            <a:endParaRPr lang="en-US"/>
          </a:p>
        </c:txPr>
        <c:crossAx val="829219696"/>
        <c:crosses val="max"/>
        <c:crossBetween val="between"/>
        <c:majorUnit val="20"/>
      </c:valAx>
      <c:catAx>
        <c:axId val="829219696"/>
        <c:scaling>
          <c:orientation val="minMax"/>
        </c:scaling>
        <c:delete val="1"/>
        <c:axPos val="b"/>
        <c:numFmt formatCode="General" sourceLinked="1"/>
        <c:majorTickMark val="out"/>
        <c:minorTickMark val="none"/>
        <c:tickLblPos val="nextTo"/>
        <c:crossAx val="829221992"/>
        <c:crosses val="autoZero"/>
        <c:auto val="0"/>
        <c:lblAlgn val="ctr"/>
        <c:lblOffset val="100"/>
        <c:noMultiLvlLbl val="0"/>
      </c:catAx>
      <c:spPr>
        <a:solidFill>
          <a:srgbClr val="051C38"/>
        </a:solidFill>
        <a:ln w="25400">
          <a:noFill/>
        </a:ln>
      </c:spPr>
    </c:plotArea>
    <c:legend>
      <c:legendPos val="b"/>
      <c:overlay val="0"/>
      <c:txPr>
        <a:bodyPr/>
        <a:lstStyle/>
        <a:p>
          <a:pPr>
            <a:defRPr sz="1200" baseline="0">
              <a:solidFill>
                <a:schemeClr val="tx1"/>
              </a:solidFill>
              <a:latin typeface="Arial Narrow"/>
              <a:ea typeface="Arial Narrow"/>
              <a:cs typeface="Arial Narrow"/>
            </a:defRPr>
          </a:pPr>
          <a:endParaRPr lang="en-US"/>
        </a:p>
      </c:txPr>
    </c:legend>
    <c:plotVisOnly val="1"/>
    <c:dispBlanksAs val="gap"/>
    <c:showDLblsOverMax val="1"/>
  </c:chart>
  <c:spPr>
    <a:solidFill>
      <a:srgbClr val="051C38"/>
    </a:solidFill>
    <a:ln w="9525">
      <a:noFill/>
    </a:ln>
  </c:spPr>
  <c:txPr>
    <a:bodyPr/>
    <a:lstStyle/>
    <a:p>
      <a:pPr>
        <a:defRPr sz="2000" b="0" i="0" u="none" strike="noStrike" baseline="0">
          <a:solidFill>
            <a:srgbClr val="000000"/>
          </a:solidFill>
          <a:latin typeface="Arial Narrow"/>
          <a:ea typeface="Arial Narrow"/>
          <a:cs typeface="Arial Narrow"/>
        </a:defRPr>
      </a:pPr>
      <a:endParaRPr lang="en-US"/>
    </a:p>
  </c:txPr>
  <c:externalData r:id="rId1">
    <c:autoUpdate val="0"/>
  </c:externalData>
  <c:userShapes r:id="rId2"/>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1753378717748626E-2"/>
          <c:y val="0.13896689997083697"/>
          <c:w val="0.84948042314141547"/>
          <c:h val="0.63235332600306315"/>
        </c:manualLayout>
      </c:layout>
      <c:barChart>
        <c:barDir val="col"/>
        <c:grouping val="clustered"/>
        <c:varyColors val="0"/>
        <c:ser>
          <c:idx val="1"/>
          <c:order val="0"/>
          <c:tx>
            <c:strRef>
              <c:f>'LBO Spreads formatted (2)'!$L$1</c:f>
              <c:strCache>
                <c:ptCount val="1"/>
                <c:pt idx="0">
                  <c:v>Difference (right axis)</c:v>
                </c:pt>
              </c:strCache>
            </c:strRef>
          </c:tx>
          <c:spPr>
            <a:solidFill>
              <a:srgbClr val="40C2C9"/>
            </a:solidFill>
            <a:ln>
              <a:noFill/>
            </a:ln>
            <a:effectLst/>
          </c:spPr>
          <c:invertIfNegative val="0"/>
          <c:cat>
            <c:strRef>
              <c:f>'LBO Spreads formatted (2)'!$I$2:$I$9</c:f>
              <c:strCache>
                <c:ptCount val="8"/>
                <c:pt idx="0">
                  <c:v>2019</c:v>
                </c:pt>
                <c:pt idx="1">
                  <c:v>2020</c:v>
                </c:pt>
                <c:pt idx="2">
                  <c:v>2021</c:v>
                </c:pt>
                <c:pt idx="3">
                  <c:v>2022</c:v>
                </c:pt>
                <c:pt idx="4">
                  <c:v>2023</c:v>
                </c:pt>
                <c:pt idx="5">
                  <c:v>2024</c:v>
                </c:pt>
                <c:pt idx="6">
                  <c:v>2025</c:v>
                </c:pt>
                <c:pt idx="7">
                  <c:v>YTD August 2026</c:v>
                </c:pt>
              </c:strCache>
            </c:strRef>
          </c:cat>
          <c:val>
            <c:numRef>
              <c:f>'LBO Spreads formatted (2)'!$L$2:$L$9</c:f>
              <c:numCache>
                <c:formatCode>0</c:formatCode>
                <c:ptCount val="8"/>
                <c:pt idx="0">
                  <c:v>127.08226401179945</c:v>
                </c:pt>
                <c:pt idx="1">
                  <c:v>204.6677244582043</c:v>
                </c:pt>
                <c:pt idx="2">
                  <c:v>177.19464114151515</c:v>
                </c:pt>
                <c:pt idx="3">
                  <c:v>216.8559599934415</c:v>
                </c:pt>
                <c:pt idx="4">
                  <c:v>219.83004926108367</c:v>
                </c:pt>
                <c:pt idx="5">
                  <c:v>153.67541518386707</c:v>
                </c:pt>
                <c:pt idx="6">
                  <c:v>162.02550803761</c:v>
                </c:pt>
                <c:pt idx="7">
                  <c:v>147.37849367461018</c:v>
                </c:pt>
              </c:numCache>
            </c:numRef>
          </c:val>
          <c:extLst>
            <c:ext xmlns:c16="http://schemas.microsoft.com/office/drawing/2014/chart" uri="{C3380CC4-5D6E-409C-BE32-E72D297353CC}">
              <c16:uniqueId val="{00000000-09D1-4885-963D-B353068A901D}"/>
            </c:ext>
          </c:extLst>
        </c:ser>
        <c:dLbls>
          <c:showLegendKey val="0"/>
          <c:showVal val="0"/>
          <c:showCatName val="0"/>
          <c:showSerName val="0"/>
          <c:showPercent val="0"/>
          <c:showBubbleSize val="0"/>
        </c:dLbls>
        <c:gapWidth val="60"/>
        <c:axId val="1569572543"/>
        <c:axId val="1569580223"/>
      </c:barChart>
      <c:lineChart>
        <c:grouping val="standard"/>
        <c:varyColors val="0"/>
        <c:ser>
          <c:idx val="2"/>
          <c:order val="1"/>
          <c:tx>
            <c:strRef>
              <c:f>'LBO Spreads formatted (2)'!$J$1</c:f>
              <c:strCache>
                <c:ptCount val="1"/>
                <c:pt idx="0">
                  <c:v>BSL spread</c:v>
                </c:pt>
              </c:strCache>
            </c:strRef>
          </c:tx>
          <c:spPr>
            <a:ln w="38100" cap="rnd">
              <a:solidFill>
                <a:srgbClr val="E88F36"/>
              </a:solidFill>
              <a:round/>
            </a:ln>
            <a:effectLst/>
          </c:spPr>
          <c:marker>
            <c:symbol val="none"/>
          </c:marker>
          <c:cat>
            <c:strRef>
              <c:f>'LBO Spreads formatted (2)'!$I$2:$I$9</c:f>
              <c:strCache>
                <c:ptCount val="8"/>
                <c:pt idx="0">
                  <c:v>2019</c:v>
                </c:pt>
                <c:pt idx="1">
                  <c:v>2020</c:v>
                </c:pt>
                <c:pt idx="2">
                  <c:v>2021</c:v>
                </c:pt>
                <c:pt idx="3">
                  <c:v>2022</c:v>
                </c:pt>
                <c:pt idx="4">
                  <c:v>2023</c:v>
                </c:pt>
                <c:pt idx="5">
                  <c:v>2024</c:v>
                </c:pt>
                <c:pt idx="6">
                  <c:v>2025</c:v>
                </c:pt>
                <c:pt idx="7">
                  <c:v>YTD August 2026</c:v>
                </c:pt>
              </c:strCache>
            </c:strRef>
          </c:cat>
          <c:val>
            <c:numRef>
              <c:f>'LBO Spreads formatted (2)'!$J$2:$J$9</c:f>
              <c:numCache>
                <c:formatCode>0</c:formatCode>
                <c:ptCount val="8"/>
                <c:pt idx="0">
                  <c:v>461.94690265486724</c:v>
                </c:pt>
                <c:pt idx="1">
                  <c:v>427.13815789473682</c:v>
                </c:pt>
                <c:pt idx="2">
                  <c:v>412.96178343949043</c:v>
                </c:pt>
                <c:pt idx="3">
                  <c:v>477.63157894736844</c:v>
                </c:pt>
                <c:pt idx="4">
                  <c:v>446.42857142857144</c:v>
                </c:pt>
                <c:pt idx="5">
                  <c:v>388.54166666666669</c:v>
                </c:pt>
                <c:pt idx="6">
                  <c:v>348.8095238095238</c:v>
                </c:pt>
                <c:pt idx="7">
                  <c:v>337.87878787878788</c:v>
                </c:pt>
              </c:numCache>
            </c:numRef>
          </c:val>
          <c:smooth val="0"/>
          <c:extLst>
            <c:ext xmlns:c16="http://schemas.microsoft.com/office/drawing/2014/chart" uri="{C3380CC4-5D6E-409C-BE32-E72D297353CC}">
              <c16:uniqueId val="{00000001-09D1-4885-963D-B353068A901D}"/>
            </c:ext>
          </c:extLst>
        </c:ser>
        <c:ser>
          <c:idx val="0"/>
          <c:order val="2"/>
          <c:tx>
            <c:strRef>
              <c:f>'LBO Spreads formatted (2)'!$K$1</c:f>
              <c:strCache>
                <c:ptCount val="1"/>
                <c:pt idx="0">
                  <c:v>Direct lending spread</c:v>
                </c:pt>
              </c:strCache>
            </c:strRef>
          </c:tx>
          <c:spPr>
            <a:ln w="38100" cap="rnd">
              <a:solidFill>
                <a:srgbClr val="F5C914"/>
              </a:solidFill>
              <a:round/>
            </a:ln>
            <a:effectLst/>
          </c:spPr>
          <c:marker>
            <c:symbol val="none"/>
          </c:marker>
          <c:cat>
            <c:strRef>
              <c:f>'LBO Spreads formatted (2)'!$I$2:$I$9</c:f>
              <c:strCache>
                <c:ptCount val="8"/>
                <c:pt idx="0">
                  <c:v>2019</c:v>
                </c:pt>
                <c:pt idx="1">
                  <c:v>2020</c:v>
                </c:pt>
                <c:pt idx="2">
                  <c:v>2021</c:v>
                </c:pt>
                <c:pt idx="3">
                  <c:v>2022</c:v>
                </c:pt>
                <c:pt idx="4">
                  <c:v>2023</c:v>
                </c:pt>
                <c:pt idx="5">
                  <c:v>2024</c:v>
                </c:pt>
                <c:pt idx="6">
                  <c:v>2025</c:v>
                </c:pt>
                <c:pt idx="7">
                  <c:v>YTD August 2026</c:v>
                </c:pt>
              </c:strCache>
            </c:strRef>
          </c:cat>
          <c:val>
            <c:numRef>
              <c:f>'LBO Spreads formatted (2)'!$K$2:$K$9</c:f>
              <c:numCache>
                <c:formatCode>0</c:formatCode>
                <c:ptCount val="8"/>
                <c:pt idx="0">
                  <c:v>589.0291666666667</c:v>
                </c:pt>
                <c:pt idx="1">
                  <c:v>631.80588235294113</c:v>
                </c:pt>
                <c:pt idx="2">
                  <c:v>590.15642458100558</c:v>
                </c:pt>
                <c:pt idx="3">
                  <c:v>694.48753894080994</c:v>
                </c:pt>
                <c:pt idx="4">
                  <c:v>666.25862068965512</c:v>
                </c:pt>
                <c:pt idx="5">
                  <c:v>542.21708185053376</c:v>
                </c:pt>
                <c:pt idx="6">
                  <c:v>510.83503184713379</c:v>
                </c:pt>
                <c:pt idx="7">
                  <c:v>485.25728155339806</c:v>
                </c:pt>
              </c:numCache>
            </c:numRef>
          </c:val>
          <c:smooth val="0"/>
          <c:extLst>
            <c:ext xmlns:c16="http://schemas.microsoft.com/office/drawing/2014/chart" uri="{C3380CC4-5D6E-409C-BE32-E72D297353CC}">
              <c16:uniqueId val="{00000002-09D1-4885-963D-B353068A901D}"/>
            </c:ext>
          </c:extLst>
        </c:ser>
        <c:dLbls>
          <c:showLegendKey val="0"/>
          <c:showVal val="0"/>
          <c:showCatName val="0"/>
          <c:showSerName val="0"/>
          <c:showPercent val="0"/>
          <c:showBubbleSize val="0"/>
        </c:dLbls>
        <c:marker val="1"/>
        <c:smooth val="0"/>
        <c:axId val="1481874015"/>
        <c:axId val="1481874495"/>
      </c:lineChart>
      <c:catAx>
        <c:axId val="14818740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Arial Narrow"/>
                <a:ea typeface="Arial Narrow"/>
                <a:cs typeface="Arial Narrow"/>
              </a:defRPr>
            </a:pPr>
            <a:endParaRPr lang="en-US"/>
          </a:p>
        </c:txPr>
        <c:crossAx val="1481874495"/>
        <c:crosses val="autoZero"/>
        <c:auto val="1"/>
        <c:lblAlgn val="ctr"/>
        <c:lblOffset val="100"/>
        <c:noMultiLvlLbl val="0"/>
      </c:catAx>
      <c:valAx>
        <c:axId val="1481874495"/>
        <c:scaling>
          <c:orientation val="minMax"/>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000" b="0" i="0" u="none" strike="noStrike" kern="1200" baseline="0">
                    <a:solidFill>
                      <a:sysClr val="windowText" lastClr="000000"/>
                    </a:solidFill>
                    <a:latin typeface="Arial Narrow"/>
                    <a:ea typeface="Arial Narrow"/>
                    <a:cs typeface="Arial Narrow"/>
                  </a:defRPr>
                </a:pPr>
                <a:r>
                  <a:rPr lang="en-US" sz="1200" dirty="0">
                    <a:solidFill>
                      <a:schemeClr val="tx1"/>
                    </a:solidFill>
                  </a:rPr>
                  <a:t>Spread (bps) over base rate</a:t>
                </a:r>
              </a:p>
            </c:rich>
          </c:tx>
          <c:layout>
            <c:manualLayout>
              <c:xMode val="edge"/>
              <c:yMode val="edge"/>
              <c:x val="1.8226159230096239E-2"/>
              <c:y val="0.20125400991542725"/>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ysClr val="windowText" lastClr="000000"/>
                  </a:solidFill>
                  <a:latin typeface="Arial Narrow"/>
                  <a:ea typeface="Arial Narrow"/>
                  <a:cs typeface="Arial Narrow"/>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Arial Narrow"/>
                <a:ea typeface="Arial Narrow"/>
                <a:cs typeface="Arial Narrow"/>
              </a:defRPr>
            </a:pPr>
            <a:endParaRPr lang="en-US"/>
          </a:p>
        </c:txPr>
        <c:crossAx val="1481874015"/>
        <c:crosses val="autoZero"/>
        <c:crossBetween val="between"/>
        <c:majorUnit val="200"/>
      </c:valAx>
      <c:valAx>
        <c:axId val="1569580223"/>
        <c:scaling>
          <c:orientation val="minMax"/>
          <c:max val="240"/>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Arial Narrow"/>
                <a:ea typeface="Arial Narrow"/>
                <a:cs typeface="Arial Narrow"/>
              </a:defRPr>
            </a:pPr>
            <a:endParaRPr lang="en-US"/>
          </a:p>
        </c:txPr>
        <c:crossAx val="1569572543"/>
        <c:crosses val="max"/>
        <c:crossBetween val="between"/>
        <c:majorUnit val="60"/>
      </c:valAx>
      <c:catAx>
        <c:axId val="1569572543"/>
        <c:scaling>
          <c:orientation val="minMax"/>
        </c:scaling>
        <c:delete val="1"/>
        <c:axPos val="b"/>
        <c:numFmt formatCode="General" sourceLinked="1"/>
        <c:majorTickMark val="out"/>
        <c:minorTickMark val="none"/>
        <c:tickLblPos val="nextTo"/>
        <c:crossAx val="1569580223"/>
        <c:crosses val="autoZero"/>
        <c:auto val="1"/>
        <c:lblAlgn val="ctr"/>
        <c:lblOffset val="100"/>
        <c:noMultiLvlLbl val="0"/>
      </c:catAx>
      <c:spPr>
        <a:noFill/>
        <a:ln>
          <a:noFill/>
        </a:ln>
        <a:effectLst/>
      </c:spPr>
    </c:plotArea>
    <c:legend>
      <c:legendPos val="b"/>
      <c:layout>
        <c:manualLayout>
          <c:xMode val="edge"/>
          <c:yMode val="edge"/>
          <c:x val="6.4202559988058364E-2"/>
          <c:y val="0.85082075395841739"/>
          <c:w val="0.87039459811113351"/>
          <c:h val="8.136011478829859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Arial Narrow"/>
              <a:ea typeface="Arial Narrow"/>
              <a:cs typeface="Arial Narrow"/>
            </a:defRPr>
          </a:pPr>
          <a:endParaRPr lang="en-US"/>
        </a:p>
      </c:txPr>
    </c:legend>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'All-in yield'!$C$2</c:f>
              <c:strCache>
                <c:ptCount val="1"/>
                <c:pt idx="0">
                  <c:v>Debt - Wtd Avg Rate</c:v>
                </c:pt>
              </c:strCache>
            </c:strRef>
          </c:tx>
          <c:spPr>
            <a:ln w="25400" cap="rnd">
              <a:solidFill>
                <a:srgbClr val="E88F36"/>
              </a:solidFill>
              <a:prstDash val="solid"/>
              <a:round/>
            </a:ln>
            <a:effectLst/>
          </c:spPr>
          <c:marker>
            <c:symbol val="none"/>
          </c:marker>
          <c:cat>
            <c:strRef>
              <c:f>'All-in yield'!$B$3:$B$34</c:f>
              <c:strCache>
                <c:ptCount val="32"/>
                <c:pt idx="0">
                  <c:v>Q3 2018</c:v>
                </c:pt>
                <c:pt idx="1">
                  <c:v>Q4 2018</c:v>
                </c:pt>
                <c:pt idx="2">
                  <c:v>Q1 2019</c:v>
                </c:pt>
                <c:pt idx="3">
                  <c:v>Q2 2019</c:v>
                </c:pt>
                <c:pt idx="4">
                  <c:v>Q3 2019</c:v>
                </c:pt>
                <c:pt idx="5">
                  <c:v>Q4 2019</c:v>
                </c:pt>
                <c:pt idx="6">
                  <c:v>Q1 2020</c:v>
                </c:pt>
                <c:pt idx="7">
                  <c:v>Q2 2020</c:v>
                </c:pt>
                <c:pt idx="8">
                  <c:v>Q3 2020</c:v>
                </c:pt>
                <c:pt idx="9">
                  <c:v>Q4 2020</c:v>
                </c:pt>
                <c:pt idx="10">
                  <c:v>Q1 2021</c:v>
                </c:pt>
                <c:pt idx="11">
                  <c:v>Q2 2021</c:v>
                </c:pt>
                <c:pt idx="12">
                  <c:v>Q3 2021</c:v>
                </c:pt>
                <c:pt idx="13">
                  <c:v>Q4 2021</c:v>
                </c:pt>
                <c:pt idx="14">
                  <c:v>Q1 2022</c:v>
                </c:pt>
                <c:pt idx="15">
                  <c:v>Q2 2022</c:v>
                </c:pt>
                <c:pt idx="16">
                  <c:v>Q3 2022</c:v>
                </c:pt>
                <c:pt idx="17">
                  <c:v>Q4 2022</c:v>
                </c:pt>
                <c:pt idx="18">
                  <c:v>Q1 2023</c:v>
                </c:pt>
                <c:pt idx="19">
                  <c:v>Q2 2023</c:v>
                </c:pt>
                <c:pt idx="20">
                  <c:v>Q3 2023</c:v>
                </c:pt>
                <c:pt idx="21">
                  <c:v>Q4 2023</c:v>
                </c:pt>
                <c:pt idx="22">
                  <c:v>Q1 2024</c:v>
                </c:pt>
                <c:pt idx="23">
                  <c:v>Q2 2024</c:v>
                </c:pt>
                <c:pt idx="24">
                  <c:v>Q3 2024</c:v>
                </c:pt>
                <c:pt idx="25">
                  <c:v>Q4 2024</c:v>
                </c:pt>
                <c:pt idx="26">
                  <c:v>Q1 2025</c:v>
                </c:pt>
                <c:pt idx="27">
                  <c:v>Q2 2025</c:v>
                </c:pt>
                <c:pt idx="28">
                  <c:v>Q3 2025</c:v>
                </c:pt>
                <c:pt idx="29">
                  <c:v>Q4 2025</c:v>
                </c:pt>
                <c:pt idx="30">
                  <c:v>Q1 2026</c:v>
                </c:pt>
                <c:pt idx="31">
                  <c:v>Q2 2026</c:v>
                </c:pt>
              </c:strCache>
            </c:strRef>
          </c:cat>
          <c:val>
            <c:numRef>
              <c:f>'All-in yield'!$C$3:$C$34</c:f>
              <c:numCache>
                <c:formatCode>0.00"%"</c:formatCode>
                <c:ptCount val="32"/>
                <c:pt idx="0">
                  <c:v>9.2930479445177951</c:v>
                </c:pt>
                <c:pt idx="1">
                  <c:v>9.4241360218233048</c:v>
                </c:pt>
                <c:pt idx="2">
                  <c:v>9.3565452384672998</c:v>
                </c:pt>
                <c:pt idx="3">
                  <c:v>9.1473781334863329</c:v>
                </c:pt>
                <c:pt idx="4">
                  <c:v>8.759203766551245</c:v>
                </c:pt>
                <c:pt idx="5">
                  <c:v>8.5043754037746737</c:v>
                </c:pt>
                <c:pt idx="6">
                  <c:v>7.9880552662383941</c:v>
                </c:pt>
                <c:pt idx="7">
                  <c:v>7.7263161064355401</c:v>
                </c:pt>
                <c:pt idx="8">
                  <c:v>7.6707241250130576</c:v>
                </c:pt>
                <c:pt idx="9">
                  <c:v>7.6916019537829996</c:v>
                </c:pt>
                <c:pt idx="10">
                  <c:v>7.4463114870173186</c:v>
                </c:pt>
                <c:pt idx="11">
                  <c:v>7.4094138088938104</c:v>
                </c:pt>
                <c:pt idx="12">
                  <c:v>7.1898688763460337</c:v>
                </c:pt>
                <c:pt idx="13">
                  <c:v>7.0722915211341766</c:v>
                </c:pt>
                <c:pt idx="14">
                  <c:v>7.116860715973516</c:v>
                </c:pt>
                <c:pt idx="15">
                  <c:v>7.684592068554128</c:v>
                </c:pt>
                <c:pt idx="16">
                  <c:v>9.0983116590281945</c:v>
                </c:pt>
                <c:pt idx="17">
                  <c:v>10.354555494068014</c:v>
                </c:pt>
                <c:pt idx="18">
                  <c:v>10.980038978057795</c:v>
                </c:pt>
                <c:pt idx="19">
                  <c:v>11.250088419432767</c:v>
                </c:pt>
                <c:pt idx="20">
                  <c:v>11.510566259325824</c:v>
                </c:pt>
                <c:pt idx="21">
                  <c:v>11.391816291291809</c:v>
                </c:pt>
                <c:pt idx="22">
                  <c:v>11.381343996791694</c:v>
                </c:pt>
                <c:pt idx="23">
                  <c:v>11.17840849444941</c:v>
                </c:pt>
                <c:pt idx="24">
                  <c:v>10.470449281899851</c:v>
                </c:pt>
                <c:pt idx="25">
                  <c:v>9.9581703730266824</c:v>
                </c:pt>
                <c:pt idx="26">
                  <c:v>9.7321141397702462</c:v>
                </c:pt>
                <c:pt idx="27">
                  <c:v>9.605955287950076</c:v>
                </c:pt>
                <c:pt idx="28">
                  <c:v>9.3707162751139403</c:v>
                </c:pt>
                <c:pt idx="29">
                  <c:v>8.9149329079719806</c:v>
                </c:pt>
                <c:pt idx="30">
                  <c:v>8.8027414415095109</c:v>
                </c:pt>
                <c:pt idx="31">
                  <c:v>8.3031389890000007</c:v>
                </c:pt>
              </c:numCache>
            </c:numRef>
          </c:val>
          <c:smooth val="0"/>
          <c:extLst>
            <c:ext xmlns:c16="http://schemas.microsoft.com/office/drawing/2014/chart" uri="{C3380CC4-5D6E-409C-BE32-E72D297353CC}">
              <c16:uniqueId val="{00000000-99EE-48A6-A59D-C0E8C13A106B}"/>
            </c:ext>
          </c:extLst>
        </c:ser>
        <c:ser>
          <c:idx val="1"/>
          <c:order val="1"/>
          <c:tx>
            <c:strRef>
              <c:f>'All-in yield'!#REF!</c:f>
              <c:strCache>
                <c:ptCount val="1"/>
                <c:pt idx="0">
                  <c:v>#REF!</c:v>
                </c:pt>
              </c:strCache>
            </c:strRef>
          </c:tx>
          <c:spPr>
            <a:ln w="28575" cap="rnd">
              <a:solidFill>
                <a:schemeClr val="accent2"/>
              </a:solidFill>
              <a:round/>
            </a:ln>
            <a:effectLst/>
          </c:spPr>
          <c:marker>
            <c:symbol val="none"/>
          </c:marker>
          <c:cat>
            <c:strRef>
              <c:f>'All-in yield'!$B$3:$B$34</c:f>
              <c:strCache>
                <c:ptCount val="32"/>
                <c:pt idx="0">
                  <c:v>Q3 2018</c:v>
                </c:pt>
                <c:pt idx="1">
                  <c:v>Q4 2018</c:v>
                </c:pt>
                <c:pt idx="2">
                  <c:v>Q1 2019</c:v>
                </c:pt>
                <c:pt idx="3">
                  <c:v>Q2 2019</c:v>
                </c:pt>
                <c:pt idx="4">
                  <c:v>Q3 2019</c:v>
                </c:pt>
                <c:pt idx="5">
                  <c:v>Q4 2019</c:v>
                </c:pt>
                <c:pt idx="6">
                  <c:v>Q1 2020</c:v>
                </c:pt>
                <c:pt idx="7">
                  <c:v>Q2 2020</c:v>
                </c:pt>
                <c:pt idx="8">
                  <c:v>Q3 2020</c:v>
                </c:pt>
                <c:pt idx="9">
                  <c:v>Q4 2020</c:v>
                </c:pt>
                <c:pt idx="10">
                  <c:v>Q1 2021</c:v>
                </c:pt>
                <c:pt idx="11">
                  <c:v>Q2 2021</c:v>
                </c:pt>
                <c:pt idx="12">
                  <c:v>Q3 2021</c:v>
                </c:pt>
                <c:pt idx="13">
                  <c:v>Q4 2021</c:v>
                </c:pt>
                <c:pt idx="14">
                  <c:v>Q1 2022</c:v>
                </c:pt>
                <c:pt idx="15">
                  <c:v>Q2 2022</c:v>
                </c:pt>
                <c:pt idx="16">
                  <c:v>Q3 2022</c:v>
                </c:pt>
                <c:pt idx="17">
                  <c:v>Q4 2022</c:v>
                </c:pt>
                <c:pt idx="18">
                  <c:v>Q1 2023</c:v>
                </c:pt>
                <c:pt idx="19">
                  <c:v>Q2 2023</c:v>
                </c:pt>
                <c:pt idx="20">
                  <c:v>Q3 2023</c:v>
                </c:pt>
                <c:pt idx="21">
                  <c:v>Q4 2023</c:v>
                </c:pt>
                <c:pt idx="22">
                  <c:v>Q1 2024</c:v>
                </c:pt>
                <c:pt idx="23">
                  <c:v>Q2 2024</c:v>
                </c:pt>
                <c:pt idx="24">
                  <c:v>Q3 2024</c:v>
                </c:pt>
                <c:pt idx="25">
                  <c:v>Q4 2024</c:v>
                </c:pt>
                <c:pt idx="26">
                  <c:v>Q1 2025</c:v>
                </c:pt>
                <c:pt idx="27">
                  <c:v>Q2 2025</c:v>
                </c:pt>
                <c:pt idx="28">
                  <c:v>Q3 2025</c:v>
                </c:pt>
                <c:pt idx="29">
                  <c:v>Q4 2025</c:v>
                </c:pt>
                <c:pt idx="30">
                  <c:v>Q1 2026</c:v>
                </c:pt>
                <c:pt idx="31">
                  <c:v>Q2 2026</c:v>
                </c:pt>
              </c:strCache>
            </c:strRef>
          </c:cat>
          <c:val>
            <c:numRef>
              <c:f>'All-in yield'!#REF!</c:f>
              <c:numCache>
                <c:formatCode>General</c:formatCode>
                <c:ptCount val="1"/>
                <c:pt idx="0">
                  <c:v>1</c:v>
                </c:pt>
              </c:numCache>
            </c:numRef>
          </c:val>
          <c:smooth val="0"/>
          <c:extLst>
            <c:ext xmlns:c16="http://schemas.microsoft.com/office/drawing/2014/chart" uri="{C3380CC4-5D6E-409C-BE32-E72D297353CC}">
              <c16:uniqueId val="{00000001-99EE-48A6-A59D-C0E8C13A106B}"/>
            </c:ext>
          </c:extLst>
        </c:ser>
        <c:dLbls>
          <c:showLegendKey val="0"/>
          <c:showVal val="0"/>
          <c:showCatName val="0"/>
          <c:showSerName val="0"/>
          <c:showPercent val="0"/>
          <c:showBubbleSize val="0"/>
        </c:dLbls>
        <c:smooth val="0"/>
        <c:axId val="519243343"/>
        <c:axId val="899643663"/>
      </c:lineChart>
      <c:catAx>
        <c:axId val="5192433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Narrow"/>
                <a:ea typeface="Arial Narrow"/>
                <a:cs typeface="Arial Narrow"/>
              </a:defRPr>
            </a:pPr>
            <a:endParaRPr lang="en-US"/>
          </a:p>
        </c:txPr>
        <c:crossAx val="899643663"/>
        <c:crosses val="autoZero"/>
        <c:auto val="1"/>
        <c:lblAlgn val="ctr"/>
        <c:lblOffset val="100"/>
        <c:noMultiLvlLbl val="0"/>
      </c:catAx>
      <c:valAx>
        <c:axId val="899643663"/>
        <c:scaling>
          <c:orientation val="minMax"/>
        </c:scaling>
        <c:delete val="0"/>
        <c:axPos val="l"/>
        <c:numFmt formatCode="0&quot;%&quot;"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Narrow"/>
                <a:ea typeface="Arial Narrow"/>
                <a:cs typeface="Arial Narrow"/>
              </a:defRPr>
            </a:pPr>
            <a:endParaRPr lang="en-US"/>
          </a:p>
        </c:txPr>
        <c:crossAx val="51924334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2.2641225244571701E-2"/>
          <c:y val="2.3275858733211325E-2"/>
          <c:w val="0.95488121868289189"/>
          <c:h val="0.83063743794329659"/>
        </c:manualLayout>
      </c:layout>
      <c:barChart>
        <c:barDir val="col"/>
        <c:grouping val="clustered"/>
        <c:varyColors val="0"/>
        <c:ser>
          <c:idx val="0"/>
          <c:order val="0"/>
          <c:tx>
            <c:strRef>
              <c:f>'CLO demand'!$J$1</c:f>
              <c:strCache>
                <c:ptCount val="1"/>
                <c:pt idx="0">
                  <c:v>Volume ($B)</c:v>
                </c:pt>
              </c:strCache>
            </c:strRef>
          </c:tx>
          <c:spPr>
            <a:solidFill>
              <a:srgbClr val="40C2C9"/>
            </a:solidFill>
            <a:ln w="12700">
              <a:noFill/>
              <a:prstDash val="solid"/>
            </a:ln>
          </c:spPr>
          <c:invertIfNegative val="0"/>
          <c:cat>
            <c:strRef>
              <c:f>'CLO demand'!$I$5:$I$26</c:f>
              <c:strCache>
                <c:ptCount val="22"/>
                <c:pt idx="0">
                  <c:v>2Q21</c:v>
                </c:pt>
                <c:pt idx="1">
                  <c:v>3Q21</c:v>
                </c:pt>
                <c:pt idx="2">
                  <c:v>4Q21</c:v>
                </c:pt>
                <c:pt idx="3">
                  <c:v>1Q22</c:v>
                </c:pt>
                <c:pt idx="4">
                  <c:v>2Q22</c:v>
                </c:pt>
                <c:pt idx="5">
                  <c:v>3Q22</c:v>
                </c:pt>
                <c:pt idx="6">
                  <c:v>4Q22</c:v>
                </c:pt>
                <c:pt idx="7">
                  <c:v>1Q23</c:v>
                </c:pt>
                <c:pt idx="8">
                  <c:v>2Q23</c:v>
                </c:pt>
                <c:pt idx="9">
                  <c:v>3Q23</c:v>
                </c:pt>
                <c:pt idx="10">
                  <c:v>4Q23</c:v>
                </c:pt>
                <c:pt idx="11">
                  <c:v>1Q24</c:v>
                </c:pt>
                <c:pt idx="12">
                  <c:v>2Q24</c:v>
                </c:pt>
                <c:pt idx="13">
                  <c:v>3Q24</c:v>
                </c:pt>
                <c:pt idx="14">
                  <c:v>4Q24</c:v>
                </c:pt>
                <c:pt idx="15">
                  <c:v>1Q25</c:v>
                </c:pt>
                <c:pt idx="16">
                  <c:v>2Q25</c:v>
                </c:pt>
                <c:pt idx="17">
                  <c:v>3Q25</c:v>
                </c:pt>
                <c:pt idx="18">
                  <c:v>4Q25</c:v>
                </c:pt>
                <c:pt idx="19">
                  <c:v>1Q26</c:v>
                </c:pt>
                <c:pt idx="20">
                  <c:v>2Q26</c:v>
                </c:pt>
                <c:pt idx="21">
                  <c:v>Last 3 Months</c:v>
                </c:pt>
              </c:strCache>
            </c:strRef>
          </c:cat>
          <c:val>
            <c:numRef>
              <c:f>'CLO demand'!$J$5:$J$26</c:f>
              <c:numCache>
                <c:formatCode>0.00</c:formatCode>
                <c:ptCount val="22"/>
                <c:pt idx="0">
                  <c:v>3.4346600000000005</c:v>
                </c:pt>
                <c:pt idx="1">
                  <c:v>5.3315000000000001</c:v>
                </c:pt>
                <c:pt idx="2">
                  <c:v>9.6412899999999997</c:v>
                </c:pt>
                <c:pt idx="3">
                  <c:v>2.5029499999999998</c:v>
                </c:pt>
                <c:pt idx="4">
                  <c:v>3.22682</c:v>
                </c:pt>
                <c:pt idx="5">
                  <c:v>3.6499900000000003</c:v>
                </c:pt>
                <c:pt idx="6">
                  <c:v>2.60222</c:v>
                </c:pt>
                <c:pt idx="7">
                  <c:v>6.5316200000000011</c:v>
                </c:pt>
                <c:pt idx="8">
                  <c:v>5.2607499999999998</c:v>
                </c:pt>
                <c:pt idx="9">
                  <c:v>6.5866300000000004</c:v>
                </c:pt>
                <c:pt idx="10">
                  <c:v>8.7232300000000009</c:v>
                </c:pt>
                <c:pt idx="11">
                  <c:v>9.9912999999999972</c:v>
                </c:pt>
                <c:pt idx="12">
                  <c:v>10.32708</c:v>
                </c:pt>
                <c:pt idx="13">
                  <c:v>6.9296099999999994</c:v>
                </c:pt>
                <c:pt idx="14">
                  <c:v>11.252490000000002</c:v>
                </c:pt>
                <c:pt idx="15">
                  <c:v>12.06203</c:v>
                </c:pt>
                <c:pt idx="16">
                  <c:v>7.0484099999999996</c:v>
                </c:pt>
                <c:pt idx="17">
                  <c:v>13.697425000000001</c:v>
                </c:pt>
                <c:pt idx="18">
                  <c:v>10.326669999999996</c:v>
                </c:pt>
                <c:pt idx="19">
                  <c:v>9.5407899999999994</c:v>
                </c:pt>
                <c:pt idx="20">
                  <c:v>8.9649460000000012</c:v>
                </c:pt>
                <c:pt idx="21">
                  <c:v>9.7577799999999986</c:v>
                </c:pt>
              </c:numCache>
            </c:numRef>
          </c:val>
          <c:extLst>
            <c:ext xmlns:c16="http://schemas.microsoft.com/office/drawing/2014/chart" uri="{C3380CC4-5D6E-409C-BE32-E72D297353CC}">
              <c16:uniqueId val="{00000000-92FE-4137-B818-A4C264F85A11}"/>
            </c:ext>
          </c:extLst>
        </c:ser>
        <c:dLbls>
          <c:showLegendKey val="0"/>
          <c:showVal val="0"/>
          <c:showCatName val="0"/>
          <c:showSerName val="0"/>
          <c:showPercent val="0"/>
          <c:showBubbleSize val="0"/>
        </c:dLbls>
        <c:gapWidth val="60"/>
        <c:axId val="123647488"/>
        <c:axId val="123649024"/>
      </c:barChart>
      <c:lineChart>
        <c:grouping val="standard"/>
        <c:varyColors val="0"/>
        <c:ser>
          <c:idx val="1"/>
          <c:order val="1"/>
          <c:tx>
            <c:strRef>
              <c:f>'CLO demand'!$K$1</c:f>
              <c:strCache>
                <c:ptCount val="1"/>
                <c:pt idx="0">
                  <c:v>Count</c:v>
                </c:pt>
              </c:strCache>
            </c:strRef>
          </c:tx>
          <c:spPr>
            <a:ln w="38100">
              <a:solidFill>
                <a:srgbClr val="F5C914"/>
              </a:solidFill>
            </a:ln>
          </c:spPr>
          <c:marker>
            <c:symbol val="none"/>
          </c:marker>
          <c:cat>
            <c:strRef>
              <c:f>'CLO demand'!$I$5:$I$26</c:f>
              <c:strCache>
                <c:ptCount val="22"/>
                <c:pt idx="0">
                  <c:v>2Q21</c:v>
                </c:pt>
                <c:pt idx="1">
                  <c:v>3Q21</c:v>
                </c:pt>
                <c:pt idx="2">
                  <c:v>4Q21</c:v>
                </c:pt>
                <c:pt idx="3">
                  <c:v>1Q22</c:v>
                </c:pt>
                <c:pt idx="4">
                  <c:v>2Q22</c:v>
                </c:pt>
                <c:pt idx="5">
                  <c:v>3Q22</c:v>
                </c:pt>
                <c:pt idx="6">
                  <c:v>4Q22</c:v>
                </c:pt>
                <c:pt idx="7">
                  <c:v>1Q23</c:v>
                </c:pt>
                <c:pt idx="8">
                  <c:v>2Q23</c:v>
                </c:pt>
                <c:pt idx="9">
                  <c:v>3Q23</c:v>
                </c:pt>
                <c:pt idx="10">
                  <c:v>4Q23</c:v>
                </c:pt>
                <c:pt idx="11">
                  <c:v>1Q24</c:v>
                </c:pt>
                <c:pt idx="12">
                  <c:v>2Q24</c:v>
                </c:pt>
                <c:pt idx="13">
                  <c:v>3Q24</c:v>
                </c:pt>
                <c:pt idx="14">
                  <c:v>4Q24</c:v>
                </c:pt>
                <c:pt idx="15">
                  <c:v>1Q25</c:v>
                </c:pt>
                <c:pt idx="16">
                  <c:v>2Q25</c:v>
                </c:pt>
                <c:pt idx="17">
                  <c:v>3Q25</c:v>
                </c:pt>
                <c:pt idx="18">
                  <c:v>4Q25</c:v>
                </c:pt>
                <c:pt idx="19">
                  <c:v>1Q26</c:v>
                </c:pt>
                <c:pt idx="20">
                  <c:v>2Q26</c:v>
                </c:pt>
                <c:pt idx="21">
                  <c:v>Last 3 Months</c:v>
                </c:pt>
              </c:strCache>
            </c:strRef>
          </c:cat>
          <c:val>
            <c:numRef>
              <c:f>'CLO demand'!$K$5:$K$26</c:f>
              <c:numCache>
                <c:formatCode>General</c:formatCode>
                <c:ptCount val="22"/>
                <c:pt idx="0">
                  <c:v>7</c:v>
                </c:pt>
                <c:pt idx="1">
                  <c:v>9</c:v>
                </c:pt>
                <c:pt idx="2">
                  <c:v>17</c:v>
                </c:pt>
                <c:pt idx="3">
                  <c:v>5</c:v>
                </c:pt>
                <c:pt idx="4">
                  <c:v>7</c:v>
                </c:pt>
                <c:pt idx="5">
                  <c:v>8</c:v>
                </c:pt>
                <c:pt idx="6">
                  <c:v>6</c:v>
                </c:pt>
                <c:pt idx="7">
                  <c:v>13</c:v>
                </c:pt>
                <c:pt idx="8">
                  <c:v>12</c:v>
                </c:pt>
                <c:pt idx="9">
                  <c:v>13</c:v>
                </c:pt>
                <c:pt idx="10">
                  <c:v>20</c:v>
                </c:pt>
                <c:pt idx="11">
                  <c:v>20</c:v>
                </c:pt>
                <c:pt idx="12">
                  <c:v>19</c:v>
                </c:pt>
                <c:pt idx="13">
                  <c:v>16</c:v>
                </c:pt>
                <c:pt idx="14">
                  <c:v>21</c:v>
                </c:pt>
                <c:pt idx="15">
                  <c:v>20</c:v>
                </c:pt>
                <c:pt idx="16">
                  <c:v>14</c:v>
                </c:pt>
                <c:pt idx="17">
                  <c:v>24</c:v>
                </c:pt>
                <c:pt idx="18">
                  <c:v>20</c:v>
                </c:pt>
                <c:pt idx="19">
                  <c:v>19</c:v>
                </c:pt>
                <c:pt idx="20">
                  <c:v>19</c:v>
                </c:pt>
                <c:pt idx="21">
                  <c:v>20</c:v>
                </c:pt>
              </c:numCache>
            </c:numRef>
          </c:val>
          <c:smooth val="0"/>
          <c:extLst>
            <c:ext xmlns:c16="http://schemas.microsoft.com/office/drawing/2014/chart" uri="{C3380CC4-5D6E-409C-BE32-E72D297353CC}">
              <c16:uniqueId val="{00000001-92FE-4137-B818-A4C264F85A11}"/>
            </c:ext>
          </c:extLst>
        </c:ser>
        <c:dLbls>
          <c:showLegendKey val="0"/>
          <c:showVal val="0"/>
          <c:showCatName val="0"/>
          <c:showSerName val="0"/>
          <c:showPercent val="0"/>
          <c:showBubbleSize val="0"/>
        </c:dLbls>
        <c:marker val="1"/>
        <c:smooth val="0"/>
        <c:axId val="829219696"/>
        <c:axId val="829221992"/>
      </c:lineChart>
      <c:catAx>
        <c:axId val="123647488"/>
        <c:scaling>
          <c:orientation val="minMax"/>
        </c:scaling>
        <c:delete val="0"/>
        <c:axPos val="b"/>
        <c:numFmt formatCode="[$-409]mmm\ yyyy;@" sourceLinked="0"/>
        <c:majorTickMark val="none"/>
        <c:minorTickMark val="none"/>
        <c:tickLblPos val="nextTo"/>
        <c:spPr>
          <a:noFill/>
          <a:ln w="6350">
            <a:solidFill>
              <a:schemeClr val="tx1"/>
            </a:solidFill>
            <a:prstDash val="solid"/>
          </a:ln>
        </c:spPr>
        <c:txPr>
          <a:bodyPr rot="0" vert="horz"/>
          <a:lstStyle/>
          <a:p>
            <a:pPr rtl="1">
              <a:defRPr sz="1200" b="0" i="0" u="none" strike="noStrike" baseline="0">
                <a:solidFill>
                  <a:schemeClr val="tx1"/>
                </a:solidFill>
                <a:latin typeface="Arial Narrow"/>
                <a:ea typeface="Arial Narrow"/>
                <a:cs typeface="Arial Narrow"/>
              </a:defRPr>
            </a:pPr>
            <a:endParaRPr lang="en-US"/>
          </a:p>
        </c:txPr>
        <c:crossAx val="123649024"/>
        <c:crosses val="autoZero"/>
        <c:auto val="0"/>
        <c:lblAlgn val="ctr"/>
        <c:lblOffset val="0"/>
        <c:noMultiLvlLbl val="0"/>
      </c:catAx>
      <c:valAx>
        <c:axId val="123649024"/>
        <c:scaling>
          <c:orientation val="minMax"/>
          <c:max val="15"/>
        </c:scaling>
        <c:delete val="0"/>
        <c:axPos val="l"/>
        <c:numFmt formatCode="&quot;$&quot;0" sourceLinked="0"/>
        <c:majorTickMark val="out"/>
        <c:minorTickMark val="none"/>
        <c:tickLblPos val="low"/>
        <c:spPr>
          <a:noFill/>
          <a:ln w="3175">
            <a:noFill/>
            <a:prstDash val="solid"/>
          </a:ln>
        </c:spPr>
        <c:txPr>
          <a:bodyPr rot="0" vert="horz"/>
          <a:lstStyle/>
          <a:p>
            <a:pPr rtl="1">
              <a:defRPr sz="1200" b="0" i="0" u="none" strike="noStrike" baseline="0">
                <a:solidFill>
                  <a:schemeClr val="tx1"/>
                </a:solidFill>
                <a:latin typeface="Arial Narrow"/>
                <a:ea typeface="Arial Narrow"/>
                <a:cs typeface="Arial Narrow"/>
              </a:defRPr>
            </a:pPr>
            <a:endParaRPr lang="en-US"/>
          </a:p>
        </c:txPr>
        <c:crossAx val="123647488"/>
        <c:crosses val="autoZero"/>
        <c:crossBetween val="between"/>
        <c:majorUnit val="3"/>
      </c:valAx>
      <c:valAx>
        <c:axId val="829221992"/>
        <c:scaling>
          <c:orientation val="minMax"/>
          <c:max val="25"/>
          <c:min val="0"/>
        </c:scaling>
        <c:delete val="0"/>
        <c:axPos val="r"/>
        <c:numFmt formatCode="General" sourceLinked="1"/>
        <c:majorTickMark val="out"/>
        <c:minorTickMark val="none"/>
        <c:tickLblPos val="high"/>
        <c:spPr>
          <a:ln>
            <a:noFill/>
          </a:ln>
        </c:spPr>
        <c:txPr>
          <a:bodyPr/>
          <a:lstStyle/>
          <a:p>
            <a:pPr>
              <a:defRPr sz="1200" baseline="0">
                <a:solidFill>
                  <a:schemeClr val="tx1"/>
                </a:solidFill>
                <a:latin typeface="Arial Narrow"/>
                <a:ea typeface="Arial Narrow"/>
                <a:cs typeface="Arial Narrow"/>
              </a:defRPr>
            </a:pPr>
            <a:endParaRPr lang="en-US"/>
          </a:p>
        </c:txPr>
        <c:crossAx val="829219696"/>
        <c:crosses val="max"/>
        <c:crossBetween val="between"/>
        <c:majorUnit val="5"/>
      </c:valAx>
      <c:catAx>
        <c:axId val="829219696"/>
        <c:scaling>
          <c:orientation val="minMax"/>
        </c:scaling>
        <c:delete val="1"/>
        <c:axPos val="b"/>
        <c:numFmt formatCode="General" sourceLinked="1"/>
        <c:majorTickMark val="out"/>
        <c:minorTickMark val="none"/>
        <c:tickLblPos val="nextTo"/>
        <c:crossAx val="829221992"/>
        <c:crosses val="autoZero"/>
        <c:auto val="0"/>
        <c:lblAlgn val="ctr"/>
        <c:lblOffset val="100"/>
        <c:noMultiLvlLbl val="0"/>
      </c:catAx>
      <c:spPr>
        <a:solidFill>
          <a:srgbClr val="051C38"/>
        </a:solidFill>
        <a:ln w="25400">
          <a:noFill/>
        </a:ln>
      </c:spPr>
    </c:plotArea>
    <c:legend>
      <c:legendPos val="b"/>
      <c:overlay val="0"/>
      <c:txPr>
        <a:bodyPr/>
        <a:lstStyle/>
        <a:p>
          <a:pPr>
            <a:defRPr sz="1200" baseline="0">
              <a:solidFill>
                <a:schemeClr val="tx1"/>
              </a:solidFill>
              <a:latin typeface="Arial Narrow"/>
              <a:ea typeface="Arial Narrow"/>
              <a:cs typeface="Arial Narrow"/>
            </a:defRPr>
          </a:pPr>
          <a:endParaRPr lang="en-US"/>
        </a:p>
      </c:txPr>
    </c:legend>
    <c:plotVisOnly val="1"/>
    <c:dispBlanksAs val="gap"/>
    <c:showDLblsOverMax val="1"/>
  </c:chart>
  <c:spPr>
    <a:solidFill>
      <a:srgbClr val="051C38"/>
    </a:solidFill>
    <a:ln w="9525">
      <a:noFill/>
    </a:ln>
  </c:spPr>
  <c:txPr>
    <a:bodyPr/>
    <a:lstStyle/>
    <a:p>
      <a:pPr>
        <a:defRPr sz="2000" b="0" i="0" u="none" strike="noStrike" baseline="0">
          <a:solidFill>
            <a:srgbClr val="000000"/>
          </a:solidFill>
          <a:latin typeface="Arial Narrow"/>
          <a:ea typeface="Arial Narrow"/>
          <a:cs typeface="Arial Narrow"/>
        </a:defRPr>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cdr:x>
      <cdr:y>0.00239</cdr:y>
    </cdr:from>
    <cdr:to>
      <cdr:x>1</cdr:x>
      <cdr:y>0.06906</cdr:y>
    </cdr:to>
    <cdr:sp macro="" textlink="">
      <cdr:nvSpPr>
        <cdr:cNvPr id="2" name="TextBox 1">
          <a:extLst xmlns:a="http://schemas.openxmlformats.org/drawingml/2006/main">
            <a:ext uri="{FF2B5EF4-FFF2-40B4-BE49-F238E27FC236}">
              <a16:creationId xmlns:a16="http://schemas.microsoft.com/office/drawing/2014/main" id="{859B8A42-336D-17B5-E6CD-0E99C8CD77E2}"/>
            </a:ext>
          </a:extLst>
        </cdr:cNvPr>
        <cdr:cNvSpPr txBox="1"/>
      </cdr:nvSpPr>
      <cdr:spPr>
        <a:xfrm xmlns:a="http://schemas.openxmlformats.org/drawingml/2006/main">
          <a:off x="0" y="6556"/>
          <a:ext cx="5486400" cy="182880"/>
        </a:xfrm>
        <a:prstGeom xmlns:a="http://schemas.openxmlformats.org/drawingml/2006/main" prst="rect">
          <a:avLst/>
        </a:prstGeom>
      </cdr:spPr>
      <cdr:txBody>
        <a:bodyPr xmlns:a="http://schemas.openxmlformats.org/drawingml/2006/main" vertOverflow="clip" wrap="square" lIns="27432" tIns="27432" rIns="0" bIns="0" rtlCol="0" anchor="t"/>
        <a:lstStyle xmlns:a="http://schemas.openxmlformats.org/drawingml/2006/main"/>
        <a:p xmlns:a="http://schemas.openxmlformats.org/drawingml/2006/main">
          <a:endParaRPr lang="en-US" sz="1200" b="1">
            <a:latin typeface="Arial Narrow" panose="020B0606020202030204" pitchFamily="34" charset="0"/>
          </a:endParaRPr>
        </a:p>
      </cdr:txBody>
    </cdr:sp>
  </cdr:relSizeAnchor>
  <cdr:relSizeAnchor xmlns:cdr="http://schemas.openxmlformats.org/drawingml/2006/chartDrawing">
    <cdr:from>
      <cdr:x>0</cdr:x>
      <cdr:y>0.00239</cdr:y>
    </cdr:from>
    <cdr:to>
      <cdr:x>1</cdr:x>
      <cdr:y>0.06906</cdr:y>
    </cdr:to>
    <cdr:sp macro="" textlink="">
      <cdr:nvSpPr>
        <cdr:cNvPr id="6" name="TextBox 1">
          <a:extLst xmlns:a="http://schemas.openxmlformats.org/drawingml/2006/main">
            <a:ext uri="{FF2B5EF4-FFF2-40B4-BE49-F238E27FC236}">
              <a16:creationId xmlns:a16="http://schemas.microsoft.com/office/drawing/2014/main" id="{CD960A36-BCEA-8ACE-F16B-F3F8CE0B12A7}"/>
            </a:ext>
          </a:extLst>
        </cdr:cNvPr>
        <cdr:cNvSpPr txBox="1"/>
      </cdr:nvSpPr>
      <cdr:spPr>
        <a:xfrm xmlns:a="http://schemas.openxmlformats.org/drawingml/2006/main">
          <a:off x="0" y="6556"/>
          <a:ext cx="5486400" cy="182880"/>
        </a:xfrm>
        <a:prstGeom xmlns:a="http://schemas.openxmlformats.org/drawingml/2006/main" prst="rect">
          <a:avLst/>
        </a:prstGeom>
      </cdr:spPr>
      <cdr:txBody>
        <a:bodyPr xmlns:a="http://schemas.openxmlformats.org/drawingml/2006/main" vertOverflow="clip" wrap="square" lIns="27432" tIns="27432" rIns="0" bIns="0" rtlCol="0" anchor="t"/>
        <a:lstStyle xmlns:a="http://schemas.openxmlformats.org/drawingml/2006/main"/>
        <a:p xmlns:a="http://schemas.openxmlformats.org/drawingml/2006/main">
          <a:endParaRPr lang="en-US" sz="1200" b="1">
            <a:latin typeface="Arial Narrow" panose="020B0606020202030204" pitchFamily="34" charset="0"/>
          </a:endParaRPr>
        </a:p>
      </cdr:txBody>
    </cdr:sp>
  </cdr:relSizeAnchor>
</c:userShapes>
</file>

<file path=ppt/drawings/drawing21.xml><?xml version="1.0" encoding="utf-8"?>
<c:userShapes xmlns:c="http://schemas.openxmlformats.org/drawingml/2006/chart">
  <cdr:relSizeAnchor xmlns:cdr="http://schemas.openxmlformats.org/drawingml/2006/chartDrawing">
    <cdr:from>
      <cdr:x>0</cdr:x>
      <cdr:y>0.00239</cdr:y>
    </cdr:from>
    <cdr:to>
      <cdr:x>1</cdr:x>
      <cdr:y>0.06906</cdr:y>
    </cdr:to>
    <cdr:sp macro="" textlink="">
      <cdr:nvSpPr>
        <cdr:cNvPr id="2" name="TextBox 1">
          <a:extLst xmlns:a="http://schemas.openxmlformats.org/drawingml/2006/main">
            <a:ext uri="{FF2B5EF4-FFF2-40B4-BE49-F238E27FC236}">
              <a16:creationId xmlns:a16="http://schemas.microsoft.com/office/drawing/2014/main" id="{859B8A42-336D-17B5-E6CD-0E99C8CD77E2}"/>
            </a:ext>
          </a:extLst>
        </cdr:cNvPr>
        <cdr:cNvSpPr txBox="1"/>
      </cdr:nvSpPr>
      <cdr:spPr>
        <a:xfrm xmlns:a="http://schemas.openxmlformats.org/drawingml/2006/main">
          <a:off x="0" y="6556"/>
          <a:ext cx="5486400" cy="182880"/>
        </a:xfrm>
        <a:prstGeom xmlns:a="http://schemas.openxmlformats.org/drawingml/2006/main" prst="rect">
          <a:avLst/>
        </a:prstGeom>
      </cdr:spPr>
      <cdr:txBody>
        <a:bodyPr xmlns:a="http://schemas.openxmlformats.org/drawingml/2006/main" vertOverflow="clip" wrap="square" lIns="27432" tIns="27432" rIns="0" bIns="0" rtlCol="0" anchor="t"/>
        <a:lstStyle xmlns:a="http://schemas.openxmlformats.org/drawingml/2006/main"/>
        <a:p xmlns:a="http://schemas.openxmlformats.org/drawingml/2006/main">
          <a:endParaRPr lang="en-US" sz="1200" b="1">
            <a:latin typeface="Arial Narrow" panose="020B0606020202030204" pitchFamily="34" charset="0"/>
          </a:endParaRPr>
        </a:p>
      </cdr:txBody>
    </cdr:sp>
  </cdr:relSizeAnchor>
  <cdr:relSizeAnchor xmlns:cdr="http://schemas.openxmlformats.org/drawingml/2006/chartDrawing">
    <cdr:from>
      <cdr:x>0</cdr:x>
      <cdr:y>0.00239</cdr:y>
    </cdr:from>
    <cdr:to>
      <cdr:x>1</cdr:x>
      <cdr:y>0.06906</cdr:y>
    </cdr:to>
    <cdr:sp macro="" textlink="">
      <cdr:nvSpPr>
        <cdr:cNvPr id="6" name="TextBox 1">
          <a:extLst xmlns:a="http://schemas.openxmlformats.org/drawingml/2006/main">
            <a:ext uri="{FF2B5EF4-FFF2-40B4-BE49-F238E27FC236}">
              <a16:creationId xmlns:a16="http://schemas.microsoft.com/office/drawing/2014/main" id="{CD960A36-BCEA-8ACE-F16B-F3F8CE0B12A7}"/>
            </a:ext>
          </a:extLst>
        </cdr:cNvPr>
        <cdr:cNvSpPr txBox="1"/>
      </cdr:nvSpPr>
      <cdr:spPr>
        <a:xfrm xmlns:a="http://schemas.openxmlformats.org/drawingml/2006/main">
          <a:off x="0" y="6556"/>
          <a:ext cx="5486400" cy="182880"/>
        </a:xfrm>
        <a:prstGeom xmlns:a="http://schemas.openxmlformats.org/drawingml/2006/main" prst="rect">
          <a:avLst/>
        </a:prstGeom>
      </cdr:spPr>
      <cdr:txBody>
        <a:bodyPr xmlns:a="http://schemas.openxmlformats.org/drawingml/2006/main" vertOverflow="clip" wrap="square" lIns="27432" tIns="27432" rIns="0" bIns="0" rtlCol="0" anchor="t"/>
        <a:lstStyle xmlns:a="http://schemas.openxmlformats.org/drawingml/2006/main"/>
        <a:p xmlns:a="http://schemas.openxmlformats.org/drawingml/2006/main">
          <a:endParaRPr lang="en-US" sz="1200" b="1">
            <a:latin typeface="Arial Narrow" panose="020B0606020202030204" pitchFamily="34" charset="0"/>
          </a:endParaRPr>
        </a:p>
      </cdr:txBody>
    </cdr:sp>
  </cdr:relSizeAnchor>
</c:userShapes>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41584FEF-1DBF-834A-854E-934CB0C68360}"/>
              </a:ext>
            </a:extLst>
          </p:cNvPr>
          <p:cNvSpPr>
            <a:spLocks noGrp="1"/>
          </p:cNvSpPr>
          <p:nvPr>
            <p:ph idx="10"/>
          </p:nvPr>
        </p:nvSpPr>
        <p:spPr>
          <a:xfrm>
            <a:off x="838201" y="3505200"/>
            <a:ext cx="6248400" cy="1295400"/>
          </a:xfrm>
        </p:spPr>
        <p:txBody>
          <a:bodyPr/>
          <a:lstStyle/>
          <a:p>
            <a:r>
              <a:rPr lang="en-US" b="1" dirty="0">
                <a:latin typeface="Georgia" panose="02040502050405020303" pitchFamily="18" charset="0"/>
              </a:rPr>
              <a:t>Private Credit Monitor</a:t>
            </a:r>
          </a:p>
        </p:txBody>
      </p:sp>
      <p:sp>
        <p:nvSpPr>
          <p:cNvPr id="12" name="Content Placeholder 11">
            <a:extLst>
              <a:ext uri="{FF2B5EF4-FFF2-40B4-BE49-F238E27FC236}">
                <a16:creationId xmlns:a16="http://schemas.microsoft.com/office/drawing/2014/main" id="{93D10ACD-6DB6-9C49-959E-0CBC1FB79C1C}"/>
              </a:ext>
            </a:extLst>
          </p:cNvPr>
          <p:cNvSpPr>
            <a:spLocks noGrp="1"/>
          </p:cNvSpPr>
          <p:nvPr>
            <p:ph idx="11"/>
          </p:nvPr>
        </p:nvSpPr>
        <p:spPr>
          <a:xfrm>
            <a:off x="838201" y="5486400"/>
            <a:ext cx="6248400" cy="594688"/>
          </a:xfrm>
        </p:spPr>
        <p:txBody>
          <a:bodyPr/>
          <a:lstStyle/>
          <a:p>
            <a:r>
              <a:rPr lang="en-US" dirty="0"/>
              <a:t>August 2026</a:t>
            </a:r>
          </a:p>
        </p:txBody>
      </p:sp>
    </p:spTree>
    <p:extLst>
      <p:ext uri="{BB962C8B-B14F-4D97-AF65-F5344CB8AC3E}">
        <p14:creationId xmlns:p14="http://schemas.microsoft.com/office/powerpoint/2010/main" val="2244178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3B138FA-B270-0841-93DB-B3C68BCC0D25}"/>
              </a:ext>
            </a:extLst>
          </p:cNvPr>
          <p:cNvSpPr>
            <a:spLocks noGrp="1"/>
          </p:cNvSpPr>
          <p:nvPr>
            <p:ph type="body" sz="quarter" idx="11"/>
          </p:nvPr>
        </p:nvSpPr>
        <p:spPr>
          <a:xfrm>
            <a:off x="609600" y="1125697"/>
            <a:ext cx="13411200" cy="914400"/>
          </a:xfrm>
        </p:spPr>
        <p:txBody>
          <a:bodyPr/>
          <a:lstStyle/>
          <a:p>
            <a:r>
              <a:rPr lang="en-US" dirty="0"/>
              <a:t>Direct lending activity rebounds over the past three months but remains below Q1 levels</a:t>
            </a:r>
            <a:endParaRPr lang="en-US" dirty="0">
              <a:cs typeface="Arial" panose="020B0604020202020204" pitchFamily="34" charset="0"/>
            </a:endParaRPr>
          </a:p>
        </p:txBody>
      </p:sp>
      <p:sp>
        <p:nvSpPr>
          <p:cNvPr id="29" name="TextBox 28">
            <a:extLst>
              <a:ext uri="{FF2B5EF4-FFF2-40B4-BE49-F238E27FC236}">
                <a16:creationId xmlns:a16="http://schemas.microsoft.com/office/drawing/2014/main" id="{2575F363-F7D5-134D-85C9-859294382D6F}"/>
              </a:ext>
            </a:extLst>
          </p:cNvPr>
          <p:cNvSpPr txBox="1"/>
          <p:nvPr/>
        </p:nvSpPr>
        <p:spPr>
          <a:xfrm>
            <a:off x="9906000" y="6975031"/>
            <a:ext cx="4214602" cy="230832"/>
          </a:xfrm>
          <a:prstGeom prst="rect">
            <a:avLst/>
          </a:prstGeom>
          <a:noFill/>
        </p:spPr>
        <p:txBody>
          <a:bodyPr wrap="square">
            <a:spAutoFit/>
          </a:bodyPr>
          <a:lstStyle/>
          <a:p>
            <a:pPr lvl="0" algn="r"/>
            <a:r>
              <a:rPr lang="en-US" sz="900" dirty="0">
                <a:latin typeface="Arial Narrow" panose="020B0606020202030204" pitchFamily="34" charset="0"/>
                <a:cs typeface="Arial" panose="020B0604020202020204" pitchFamily="34" charset="0"/>
              </a:rPr>
              <a:t>Source: PitchBook | LCD  •  Geography: US  •  *As of Aug. 31, 2026</a:t>
            </a:r>
          </a:p>
        </p:txBody>
      </p:sp>
      <p:sp>
        <p:nvSpPr>
          <p:cNvPr id="31" name="TextBox 30">
            <a:extLst>
              <a:ext uri="{FF2B5EF4-FFF2-40B4-BE49-F238E27FC236}">
                <a16:creationId xmlns:a16="http://schemas.microsoft.com/office/drawing/2014/main" id="{903387DA-048D-804F-8EAF-D92F24E58EB0}"/>
              </a:ext>
            </a:extLst>
          </p:cNvPr>
          <p:cNvSpPr txBox="1"/>
          <p:nvPr/>
        </p:nvSpPr>
        <p:spPr>
          <a:xfrm>
            <a:off x="567267" y="7266057"/>
            <a:ext cx="3422984" cy="361637"/>
          </a:xfrm>
          <a:prstGeom prst="rect">
            <a:avLst/>
          </a:prstGeom>
          <a:noFill/>
        </p:spPr>
        <p:txBody>
          <a:bodyPr wrap="square">
            <a:spAutoFit/>
          </a:bodyPr>
          <a:lstStyle/>
          <a:p>
            <a:r>
              <a:rPr lang="en-US" sz="900" dirty="0">
                <a:latin typeface="Arial Narrow" panose="020B0606020202030204" pitchFamily="34" charset="0"/>
              </a:rPr>
              <a:t>Deal count is based on transactions covered by LCD News</a:t>
            </a:r>
          </a:p>
          <a:p>
            <a:pPr lvl="0"/>
            <a:endParaRPr lang="en-US" sz="850" dirty="0">
              <a:latin typeface="Arial" panose="020B0604020202020204" pitchFamily="34" charset="0"/>
            </a:endParaRPr>
          </a:p>
        </p:txBody>
      </p:sp>
      <p:sp>
        <p:nvSpPr>
          <p:cNvPr id="32" name="Rectangle 31">
            <a:extLst>
              <a:ext uri="{FF2B5EF4-FFF2-40B4-BE49-F238E27FC236}">
                <a16:creationId xmlns:a16="http://schemas.microsoft.com/office/drawing/2014/main" id="{6CFB7E80-3AC2-414D-9396-683F2FE904EE}"/>
              </a:ext>
            </a:extLst>
          </p:cNvPr>
          <p:cNvSpPr/>
          <p:nvPr/>
        </p:nvSpPr>
        <p:spPr>
          <a:xfrm>
            <a:off x="622300" y="2057400"/>
            <a:ext cx="13398500" cy="5486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dirty="0">
                <a:solidFill>
                  <a:schemeClr val="tx1"/>
                </a:solidFill>
                <a:latin typeface="Arial Narrow" panose="020B0606020202030204" pitchFamily="34" charset="0"/>
              </a:rPr>
              <a:t>Direct lending deal count and estimated volume </a:t>
            </a:r>
            <a:r>
              <a:rPr lang="en-US" sz="1400" dirty="0">
                <a:solidFill>
                  <a:schemeClr val="tx1"/>
                </a:solidFill>
                <a:latin typeface="Arial Narrow" panose="020B0606020202030204" pitchFamily="34" charset="0"/>
              </a:rPr>
              <a:t>(quarterly) ($B) </a:t>
            </a:r>
            <a:endParaRPr lang="en-US" sz="1400" b="0" i="0" dirty="0">
              <a:solidFill>
                <a:schemeClr val="tx1"/>
              </a:solidFill>
              <a:latin typeface="Arial Narrow" panose="020B0606020202030204" pitchFamily="34" charset="0"/>
            </a:endParaRPr>
          </a:p>
        </p:txBody>
      </p:sp>
      <p:graphicFrame>
        <p:nvGraphicFramePr>
          <p:cNvPr id="5" name="Chart Placeholder 4">
            <a:extLst>
              <a:ext uri="{FF2B5EF4-FFF2-40B4-BE49-F238E27FC236}">
                <a16:creationId xmlns:a16="http://schemas.microsoft.com/office/drawing/2014/main" id="{7FE7CC6F-3AC7-4C54-8E0D-EEA4A6E9CDF1}"/>
              </a:ext>
            </a:extLst>
          </p:cNvPr>
          <p:cNvGraphicFramePr>
            <a:graphicFrameLocks noGrp="1"/>
          </p:cNvGraphicFramePr>
          <p:nvPr>
            <p:ph type="chart" sz="quarter" idx="10"/>
            <p:extLst>
              <p:ext uri="{D42A27DB-BD31-4B8C-83A1-F6EECF244321}">
                <p14:modId xmlns:p14="http://schemas.microsoft.com/office/powerpoint/2010/main" val="42618257"/>
              </p:ext>
            </p:extLst>
          </p:nvPr>
        </p:nvGraphicFramePr>
        <p:xfrm>
          <a:off x="609600" y="2743200"/>
          <a:ext cx="13411200" cy="41148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836098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3B138FA-B270-0841-93DB-B3C68BCC0D25}"/>
              </a:ext>
            </a:extLst>
          </p:cNvPr>
          <p:cNvSpPr>
            <a:spLocks noGrp="1"/>
          </p:cNvSpPr>
          <p:nvPr>
            <p:ph type="body" sz="quarter" idx="11"/>
          </p:nvPr>
        </p:nvSpPr>
        <p:spPr>
          <a:xfrm>
            <a:off x="609600" y="1125697"/>
            <a:ext cx="13411200" cy="914400"/>
          </a:xfrm>
        </p:spPr>
        <p:txBody>
          <a:bodyPr/>
          <a:lstStyle/>
          <a:p>
            <a:r>
              <a:rPr lang="en-US" dirty="0"/>
              <a:t>The BSL–direct lending spread differential narrows to 147 bps YTD</a:t>
            </a:r>
            <a:endParaRPr lang="en-US" dirty="0">
              <a:solidFill>
                <a:srgbClr val="FF0000"/>
              </a:solidFill>
            </a:endParaRPr>
          </a:p>
        </p:txBody>
      </p:sp>
      <p:sp>
        <p:nvSpPr>
          <p:cNvPr id="29" name="TextBox 28">
            <a:extLst>
              <a:ext uri="{FF2B5EF4-FFF2-40B4-BE49-F238E27FC236}">
                <a16:creationId xmlns:a16="http://schemas.microsoft.com/office/drawing/2014/main" id="{2575F363-F7D5-134D-85C9-859294382D6F}"/>
              </a:ext>
            </a:extLst>
          </p:cNvPr>
          <p:cNvSpPr txBox="1"/>
          <p:nvPr/>
        </p:nvSpPr>
        <p:spPr>
          <a:xfrm>
            <a:off x="9982200" y="7205863"/>
            <a:ext cx="4138402" cy="230832"/>
          </a:xfrm>
          <a:prstGeom prst="rect">
            <a:avLst/>
          </a:prstGeom>
          <a:noFill/>
        </p:spPr>
        <p:txBody>
          <a:bodyPr wrap="square">
            <a:spAutoFit/>
          </a:bodyPr>
          <a:lstStyle/>
          <a:p>
            <a:pPr lvl="0" algn="r"/>
            <a:r>
              <a:rPr lang="en-US" sz="900" dirty="0">
                <a:latin typeface="Arial Narrow" panose="020B0606020202030204" pitchFamily="34" charset="0"/>
              </a:rPr>
              <a:t>Source: PitchBook | LCD  •  Geography: US  •  *As of Aug. 31, 2026</a:t>
            </a:r>
          </a:p>
        </p:txBody>
      </p:sp>
      <p:sp>
        <p:nvSpPr>
          <p:cNvPr id="31" name="TextBox 30">
            <a:extLst>
              <a:ext uri="{FF2B5EF4-FFF2-40B4-BE49-F238E27FC236}">
                <a16:creationId xmlns:a16="http://schemas.microsoft.com/office/drawing/2014/main" id="{903387DA-048D-804F-8EAF-D92F24E58EB0}"/>
              </a:ext>
            </a:extLst>
          </p:cNvPr>
          <p:cNvSpPr txBox="1"/>
          <p:nvPr/>
        </p:nvSpPr>
        <p:spPr>
          <a:xfrm>
            <a:off x="567266" y="7266057"/>
            <a:ext cx="6900334" cy="500137"/>
          </a:xfrm>
          <a:prstGeom prst="rect">
            <a:avLst/>
          </a:prstGeom>
          <a:noFill/>
        </p:spPr>
        <p:txBody>
          <a:bodyPr wrap="square">
            <a:spAutoFit/>
          </a:bodyPr>
          <a:lstStyle/>
          <a:p>
            <a:r>
              <a:rPr lang="en-US" sz="900" dirty="0">
                <a:latin typeface="Arial Narrow" panose="020B0606020202030204" pitchFamily="34" charset="0"/>
              </a:rPr>
              <a:t>Direct lending spread data reflects senior secured first-lien loans and unitranche facilities. From 2026 onward, direct lending spread data includes privately sourced values alongside those from LCD News. BDC filings, and other public sources. BSL data reflects loans issued to all leveraged borrowers.</a:t>
            </a:r>
          </a:p>
          <a:p>
            <a:pPr lvl="0"/>
            <a:endParaRPr lang="en-US" sz="850" dirty="0">
              <a:solidFill>
                <a:schemeClr val="accent3"/>
              </a:solidFill>
              <a:latin typeface="Arial" panose="020B0604020202020204" pitchFamily="34" charset="0"/>
            </a:endParaRPr>
          </a:p>
        </p:txBody>
      </p:sp>
      <p:sp>
        <p:nvSpPr>
          <p:cNvPr id="32" name="Rectangle 31">
            <a:extLst>
              <a:ext uri="{FF2B5EF4-FFF2-40B4-BE49-F238E27FC236}">
                <a16:creationId xmlns:a16="http://schemas.microsoft.com/office/drawing/2014/main" id="{6CFB7E80-3AC2-414D-9396-683F2FE904EE}"/>
              </a:ext>
            </a:extLst>
          </p:cNvPr>
          <p:cNvSpPr/>
          <p:nvPr/>
        </p:nvSpPr>
        <p:spPr>
          <a:xfrm>
            <a:off x="622300" y="2057400"/>
            <a:ext cx="13398500" cy="5486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dirty="0">
                <a:solidFill>
                  <a:schemeClr val="tx1"/>
                </a:solidFill>
                <a:latin typeface="Arial Narrow" panose="020B0606020202030204" pitchFamily="34" charset="0"/>
              </a:rPr>
              <a:t>Spread of LBOs financed in BSL (all borrowers) vs direct lending market</a:t>
            </a:r>
          </a:p>
        </p:txBody>
      </p:sp>
      <p:graphicFrame>
        <p:nvGraphicFramePr>
          <p:cNvPr id="7" name="Chart 6">
            <a:extLst>
              <a:ext uri="{FF2B5EF4-FFF2-40B4-BE49-F238E27FC236}">
                <a16:creationId xmlns:a16="http://schemas.microsoft.com/office/drawing/2014/main" id="{A76DA284-6478-4CA6-A3AC-3282A710289D}"/>
              </a:ext>
            </a:extLst>
          </p:cNvPr>
          <p:cNvGraphicFramePr>
            <a:graphicFrameLocks/>
          </p:cNvGraphicFramePr>
          <p:nvPr>
            <p:extLst>
              <p:ext uri="{D42A27DB-BD31-4B8C-83A1-F6EECF244321}">
                <p14:modId xmlns:p14="http://schemas.microsoft.com/office/powerpoint/2010/main" val="1545344376"/>
              </p:ext>
            </p:extLst>
          </p:nvPr>
        </p:nvGraphicFramePr>
        <p:xfrm>
          <a:off x="622300" y="2771457"/>
          <a:ext cx="13398500" cy="420357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43738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6A0320B-353C-F878-BD5B-4C6790348DB5}"/>
              </a:ext>
            </a:extLst>
          </p:cNvPr>
          <p:cNvSpPr>
            <a:spLocks noGrp="1"/>
          </p:cNvSpPr>
          <p:nvPr>
            <p:ph type="body" sz="quarter" idx="11"/>
          </p:nvPr>
        </p:nvSpPr>
        <p:spPr/>
        <p:txBody>
          <a:bodyPr/>
          <a:lstStyle/>
          <a:p>
            <a:r>
              <a:rPr lang="en-US" dirty="0"/>
              <a:t>BDC-held loan yields fall to 8.3%, the lowest in four years</a:t>
            </a:r>
          </a:p>
        </p:txBody>
      </p:sp>
      <p:graphicFrame>
        <p:nvGraphicFramePr>
          <p:cNvPr id="5" name="Chart Placeholder 4">
            <a:extLst>
              <a:ext uri="{FF2B5EF4-FFF2-40B4-BE49-F238E27FC236}">
                <a16:creationId xmlns:a16="http://schemas.microsoft.com/office/drawing/2014/main" id="{FE8D8DF8-8348-A6B5-15DD-8225D21DA533}"/>
              </a:ext>
            </a:extLst>
          </p:cNvPr>
          <p:cNvGraphicFramePr>
            <a:graphicFrameLocks noGrp="1"/>
          </p:cNvGraphicFramePr>
          <p:nvPr>
            <p:ph type="chart" sz="quarter" idx="10"/>
            <p:extLst>
              <p:ext uri="{D42A27DB-BD31-4B8C-83A1-F6EECF244321}">
                <p14:modId xmlns:p14="http://schemas.microsoft.com/office/powerpoint/2010/main" val="3021773058"/>
              </p:ext>
            </p:extLst>
          </p:nvPr>
        </p:nvGraphicFramePr>
        <p:xfrm>
          <a:off x="609600" y="2743200"/>
          <a:ext cx="134112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F4DB6987-9A5E-4218-3B91-443B64A98D94}"/>
              </a:ext>
            </a:extLst>
          </p:cNvPr>
          <p:cNvSpPr/>
          <p:nvPr/>
        </p:nvSpPr>
        <p:spPr>
          <a:xfrm>
            <a:off x="622300" y="2057400"/>
            <a:ext cx="13398500" cy="5486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dirty="0">
                <a:solidFill>
                  <a:schemeClr val="tx1"/>
                </a:solidFill>
                <a:latin typeface="Arial Narrow" panose="020B0606020202030204" pitchFamily="34" charset="0"/>
              </a:rPr>
              <a:t>Cost-weighted </a:t>
            </a:r>
            <a:r>
              <a:rPr lang="en-US" sz="1400" dirty="0">
                <a:solidFill>
                  <a:schemeClr val="tx1"/>
                </a:solidFill>
                <a:latin typeface="Arial Narrow" panose="020B0606020202030204" pitchFamily="34" charset="0"/>
              </a:rPr>
              <a:t>a</a:t>
            </a:r>
            <a:r>
              <a:rPr lang="en-US" sz="1400" b="0" i="0" dirty="0">
                <a:solidFill>
                  <a:schemeClr val="tx1"/>
                </a:solidFill>
                <a:latin typeface="Arial Narrow" panose="020B0606020202030204" pitchFamily="34" charset="0"/>
              </a:rPr>
              <a:t>verage </a:t>
            </a:r>
            <a:r>
              <a:rPr lang="en-US" sz="1400" dirty="0">
                <a:solidFill>
                  <a:schemeClr val="tx1"/>
                </a:solidFill>
                <a:latin typeface="Arial Narrow" panose="020B0606020202030204" pitchFamily="34" charset="0"/>
              </a:rPr>
              <a:t>a</a:t>
            </a:r>
            <a:r>
              <a:rPr lang="en-US" sz="1400" b="0" i="0" dirty="0">
                <a:solidFill>
                  <a:schemeClr val="tx1"/>
                </a:solidFill>
                <a:latin typeface="Arial Narrow" panose="020B0606020202030204" pitchFamily="34" charset="0"/>
              </a:rPr>
              <a:t>ll-in </a:t>
            </a:r>
            <a:r>
              <a:rPr lang="en-US" sz="1400" dirty="0">
                <a:solidFill>
                  <a:schemeClr val="tx1"/>
                </a:solidFill>
                <a:latin typeface="Arial Narrow" panose="020B0606020202030204" pitchFamily="34" charset="0"/>
              </a:rPr>
              <a:t>i</a:t>
            </a:r>
            <a:r>
              <a:rPr lang="en-US" sz="1400" b="0" i="0" dirty="0">
                <a:solidFill>
                  <a:schemeClr val="tx1"/>
                </a:solidFill>
                <a:latin typeface="Arial Narrow" panose="020B0606020202030204" pitchFamily="34" charset="0"/>
              </a:rPr>
              <a:t>nterest </a:t>
            </a:r>
            <a:r>
              <a:rPr lang="en-US" sz="1400" dirty="0">
                <a:solidFill>
                  <a:schemeClr val="tx1"/>
                </a:solidFill>
                <a:latin typeface="Arial Narrow" panose="020B0606020202030204" pitchFamily="34" charset="0"/>
              </a:rPr>
              <a:t>r</a:t>
            </a:r>
            <a:r>
              <a:rPr lang="en-US" sz="1400" b="0" i="0" dirty="0">
                <a:solidFill>
                  <a:schemeClr val="tx1"/>
                </a:solidFill>
                <a:latin typeface="Arial Narrow" panose="020B0606020202030204" pitchFamily="34" charset="0"/>
              </a:rPr>
              <a:t>ate (%) </a:t>
            </a:r>
          </a:p>
        </p:txBody>
      </p:sp>
      <p:sp>
        <p:nvSpPr>
          <p:cNvPr id="7" name="TextBox 1">
            <a:extLst>
              <a:ext uri="{FF2B5EF4-FFF2-40B4-BE49-F238E27FC236}">
                <a16:creationId xmlns:a16="http://schemas.microsoft.com/office/drawing/2014/main" id="{EAFB072E-8FBE-B3CD-D7B1-8291D4688E19}"/>
              </a:ext>
            </a:extLst>
          </p:cNvPr>
          <p:cNvSpPr txBox="1"/>
          <p:nvPr/>
        </p:nvSpPr>
        <p:spPr>
          <a:xfrm>
            <a:off x="8534400" y="6934200"/>
            <a:ext cx="5334000" cy="304800"/>
          </a:xfrm>
          <a:prstGeom prst="rect">
            <a:avLst/>
          </a:prstGeom>
        </p:spPr>
        <p:txBody>
          <a:bodyPr wrap="square"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lang="en-US" sz="900" b="1" dirty="0">
                <a:solidFill>
                  <a:schemeClr val="tx1"/>
                </a:solidFill>
                <a:effectLst/>
                <a:latin typeface="Arial Narrow" panose="020B0606020202030204" pitchFamily="34" charset="0"/>
                <a:ea typeface="+mn-ea"/>
                <a:cs typeface="+mn-cs"/>
              </a:rPr>
              <a:t>Source</a:t>
            </a:r>
            <a:r>
              <a:rPr lang="en-US" sz="900" dirty="0">
                <a:solidFill>
                  <a:schemeClr val="tx1"/>
                </a:solidFill>
                <a:effectLst/>
                <a:latin typeface="Arial Narrow" panose="020B0606020202030204" pitchFamily="34" charset="0"/>
                <a:ea typeface="+mn-ea"/>
                <a:cs typeface="+mn-cs"/>
              </a:rPr>
              <a:t>: PitchBook | LCD; Data through June 30, 2026 | Reflects senior secured, unsecured &amp; subordinated debt holdings</a:t>
            </a:r>
          </a:p>
        </p:txBody>
      </p:sp>
    </p:spTree>
    <p:extLst>
      <p:ext uri="{BB962C8B-B14F-4D97-AF65-F5344CB8AC3E}">
        <p14:creationId xmlns:p14="http://schemas.microsoft.com/office/powerpoint/2010/main" val="28258424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3B138FA-B270-0841-93DB-B3C68BCC0D25}"/>
              </a:ext>
            </a:extLst>
          </p:cNvPr>
          <p:cNvSpPr>
            <a:spLocks noGrp="1"/>
          </p:cNvSpPr>
          <p:nvPr>
            <p:ph type="body" sz="quarter" idx="11"/>
          </p:nvPr>
        </p:nvSpPr>
        <p:spPr>
          <a:xfrm>
            <a:off x="609600" y="1125697"/>
            <a:ext cx="13411200" cy="914400"/>
          </a:xfrm>
        </p:spPr>
        <p:txBody>
          <a:bodyPr/>
          <a:lstStyle/>
          <a:p>
            <a:r>
              <a:rPr lang="en-US" dirty="0"/>
              <a:t>CLO issuance count and volume rebound slightly from Q2</a:t>
            </a:r>
          </a:p>
        </p:txBody>
      </p:sp>
      <p:sp>
        <p:nvSpPr>
          <p:cNvPr id="29" name="TextBox 28">
            <a:extLst>
              <a:ext uri="{FF2B5EF4-FFF2-40B4-BE49-F238E27FC236}">
                <a16:creationId xmlns:a16="http://schemas.microsoft.com/office/drawing/2014/main" id="{2575F363-F7D5-134D-85C9-859294382D6F}"/>
              </a:ext>
            </a:extLst>
          </p:cNvPr>
          <p:cNvSpPr txBox="1"/>
          <p:nvPr/>
        </p:nvSpPr>
        <p:spPr>
          <a:xfrm>
            <a:off x="9829800" y="6975031"/>
            <a:ext cx="4290802" cy="230832"/>
          </a:xfrm>
          <a:prstGeom prst="rect">
            <a:avLst/>
          </a:prstGeom>
          <a:noFill/>
        </p:spPr>
        <p:txBody>
          <a:bodyPr wrap="square">
            <a:spAutoFit/>
          </a:bodyPr>
          <a:lstStyle/>
          <a:p>
            <a:pPr lvl="0" algn="r"/>
            <a:r>
              <a:rPr lang="en-US" sz="900" dirty="0">
                <a:latin typeface="Arial Narrow" panose="020B0606020202030204" pitchFamily="34" charset="0"/>
              </a:rPr>
              <a:t>Source: PitchBook | LCD  •  Geography: US  •  *As of Aug. 31, 2026</a:t>
            </a:r>
          </a:p>
        </p:txBody>
      </p:sp>
      <p:sp>
        <p:nvSpPr>
          <p:cNvPr id="32" name="Rectangle 31">
            <a:extLst>
              <a:ext uri="{FF2B5EF4-FFF2-40B4-BE49-F238E27FC236}">
                <a16:creationId xmlns:a16="http://schemas.microsoft.com/office/drawing/2014/main" id="{6CFB7E80-3AC2-414D-9396-683F2FE904EE}"/>
              </a:ext>
            </a:extLst>
          </p:cNvPr>
          <p:cNvSpPr/>
          <p:nvPr/>
        </p:nvSpPr>
        <p:spPr>
          <a:xfrm>
            <a:off x="622300" y="2057400"/>
            <a:ext cx="13398500" cy="5486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dirty="0">
                <a:solidFill>
                  <a:schemeClr val="tx1"/>
                </a:solidFill>
                <a:latin typeface="Arial Narrow" panose="020B0606020202030204" pitchFamily="34" charset="0"/>
              </a:rPr>
              <a:t>US private credit/middle market CLO issuance ($B)</a:t>
            </a:r>
          </a:p>
        </p:txBody>
      </p:sp>
      <p:graphicFrame>
        <p:nvGraphicFramePr>
          <p:cNvPr id="6" name="Chart 5">
            <a:extLst>
              <a:ext uri="{FF2B5EF4-FFF2-40B4-BE49-F238E27FC236}">
                <a16:creationId xmlns:a16="http://schemas.microsoft.com/office/drawing/2014/main" id="{1525D92E-383A-4F1B-BE66-AE2444799B33}"/>
              </a:ext>
            </a:extLst>
          </p:cNvPr>
          <p:cNvGraphicFramePr>
            <a:graphicFrameLocks/>
          </p:cNvGraphicFramePr>
          <p:nvPr>
            <p:extLst>
              <p:ext uri="{D42A27DB-BD31-4B8C-83A1-F6EECF244321}">
                <p14:modId xmlns:p14="http://schemas.microsoft.com/office/powerpoint/2010/main" val="1234726491"/>
              </p:ext>
            </p:extLst>
          </p:nvPr>
        </p:nvGraphicFramePr>
        <p:xfrm>
          <a:off x="609600" y="2895599"/>
          <a:ext cx="13411200" cy="407943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194556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3B138FA-B270-0841-93DB-B3C68BCC0D25}"/>
              </a:ext>
            </a:extLst>
          </p:cNvPr>
          <p:cNvSpPr>
            <a:spLocks noGrp="1"/>
          </p:cNvSpPr>
          <p:nvPr>
            <p:ph type="body" sz="quarter" idx="11"/>
          </p:nvPr>
        </p:nvSpPr>
        <p:spPr>
          <a:xfrm>
            <a:off x="609600" y="1125697"/>
            <a:ext cx="13411200" cy="914400"/>
          </a:xfrm>
        </p:spPr>
        <p:txBody>
          <a:bodyPr/>
          <a:lstStyle/>
          <a:p>
            <a:r>
              <a:rPr lang="en-US" dirty="0"/>
              <a:t>Borrowers refinancing direct lending deals in the BSL market continue to find favorable spreads…</a:t>
            </a:r>
          </a:p>
        </p:txBody>
      </p:sp>
      <p:sp>
        <p:nvSpPr>
          <p:cNvPr id="29" name="TextBox 28">
            <a:extLst>
              <a:ext uri="{FF2B5EF4-FFF2-40B4-BE49-F238E27FC236}">
                <a16:creationId xmlns:a16="http://schemas.microsoft.com/office/drawing/2014/main" id="{2575F363-F7D5-134D-85C9-859294382D6F}"/>
              </a:ext>
            </a:extLst>
          </p:cNvPr>
          <p:cNvSpPr txBox="1"/>
          <p:nvPr/>
        </p:nvSpPr>
        <p:spPr>
          <a:xfrm>
            <a:off x="9882397" y="7008946"/>
            <a:ext cx="4138402" cy="230832"/>
          </a:xfrm>
          <a:prstGeom prst="rect">
            <a:avLst/>
          </a:prstGeom>
          <a:noFill/>
        </p:spPr>
        <p:txBody>
          <a:bodyPr wrap="square">
            <a:spAutoFit/>
          </a:bodyPr>
          <a:lstStyle/>
          <a:p>
            <a:pPr lvl="0" algn="r"/>
            <a:r>
              <a:rPr lang="en-US" sz="900" dirty="0">
                <a:latin typeface="Arial Narrow" panose="020B0606020202030204" pitchFamily="34" charset="0"/>
              </a:rPr>
              <a:t>Source: PitchBook | LCD  •  Geography: US  •  *As of Aug. 31, 2026</a:t>
            </a:r>
          </a:p>
        </p:txBody>
      </p:sp>
      <p:sp>
        <p:nvSpPr>
          <p:cNvPr id="31" name="TextBox 30">
            <a:extLst>
              <a:ext uri="{FF2B5EF4-FFF2-40B4-BE49-F238E27FC236}">
                <a16:creationId xmlns:a16="http://schemas.microsoft.com/office/drawing/2014/main" id="{903387DA-048D-804F-8EAF-D92F24E58EB0}"/>
              </a:ext>
            </a:extLst>
          </p:cNvPr>
          <p:cNvSpPr txBox="1"/>
          <p:nvPr/>
        </p:nvSpPr>
        <p:spPr>
          <a:xfrm>
            <a:off x="567266" y="7266057"/>
            <a:ext cx="3928533" cy="361637"/>
          </a:xfrm>
          <a:prstGeom prst="rect">
            <a:avLst/>
          </a:prstGeom>
          <a:noFill/>
        </p:spPr>
        <p:txBody>
          <a:bodyPr wrap="square">
            <a:spAutoFit/>
          </a:bodyPr>
          <a:lstStyle/>
          <a:p>
            <a:r>
              <a:rPr lang="en-US" sz="850" dirty="0">
                <a:solidFill>
                  <a:schemeClr val="accent3"/>
                </a:solidFill>
                <a:latin typeface="Arial" panose="020B0604020202020204" pitchFamily="34" charset="0"/>
              </a:rPr>
              <a:t> </a:t>
            </a:r>
            <a:r>
              <a:rPr lang="en-US" sz="900" dirty="0">
                <a:latin typeface="Arial Narrow" panose="020B0606020202030204" pitchFamily="34" charset="0"/>
              </a:rPr>
              <a:t>Table is based on LCD News reporting.</a:t>
            </a:r>
          </a:p>
          <a:p>
            <a:pPr lvl="0"/>
            <a:endParaRPr lang="en-US" sz="850" dirty="0">
              <a:solidFill>
                <a:schemeClr val="accent3"/>
              </a:solidFill>
              <a:latin typeface="Arial" panose="020B0604020202020204" pitchFamily="34" charset="0"/>
            </a:endParaRPr>
          </a:p>
        </p:txBody>
      </p:sp>
      <p:sp>
        <p:nvSpPr>
          <p:cNvPr id="32" name="Rectangle 31">
            <a:extLst>
              <a:ext uri="{FF2B5EF4-FFF2-40B4-BE49-F238E27FC236}">
                <a16:creationId xmlns:a16="http://schemas.microsoft.com/office/drawing/2014/main" id="{6CFB7E80-3AC2-414D-9396-683F2FE904EE}"/>
              </a:ext>
            </a:extLst>
          </p:cNvPr>
          <p:cNvSpPr/>
          <p:nvPr/>
        </p:nvSpPr>
        <p:spPr>
          <a:xfrm>
            <a:off x="622300" y="2057400"/>
            <a:ext cx="13398500" cy="5486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dirty="0">
                <a:solidFill>
                  <a:schemeClr val="tx1"/>
                </a:solidFill>
                <a:latin typeface="Arial Narrow" panose="020B0606020202030204" pitchFamily="34" charset="0"/>
              </a:rPr>
              <a:t>Last ten syndicated term loans that refinance debt provided by direct lenders</a:t>
            </a:r>
          </a:p>
        </p:txBody>
      </p:sp>
      <p:pic>
        <p:nvPicPr>
          <p:cNvPr id="4" name="Picture 3">
            <a:extLst>
              <a:ext uri="{FF2B5EF4-FFF2-40B4-BE49-F238E27FC236}">
                <a16:creationId xmlns:a16="http://schemas.microsoft.com/office/drawing/2014/main" id="{3AF45622-EF27-B84D-7AD5-9378F8CC612D}"/>
              </a:ext>
            </a:extLst>
          </p:cNvPr>
          <p:cNvPicPr>
            <a:picLocks noChangeAspect="1"/>
          </p:cNvPicPr>
          <p:nvPr/>
        </p:nvPicPr>
        <p:blipFill>
          <a:blip r:embed="rId3"/>
          <a:stretch>
            <a:fillRect/>
          </a:stretch>
        </p:blipFill>
        <p:spPr>
          <a:xfrm>
            <a:off x="609600" y="2590800"/>
            <a:ext cx="13398500" cy="3962399"/>
          </a:xfrm>
          <a:prstGeom prst="rect">
            <a:avLst/>
          </a:prstGeom>
        </p:spPr>
      </p:pic>
    </p:spTree>
    <p:extLst>
      <p:ext uri="{BB962C8B-B14F-4D97-AF65-F5344CB8AC3E}">
        <p14:creationId xmlns:p14="http://schemas.microsoft.com/office/powerpoint/2010/main" val="3347525214"/>
      </p:ext>
    </p:extLst>
  </p:cSld>
  <p:clrMapOvr>
    <a:masterClrMapping/>
  </p:clrMapOvr>
</p:sld>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730</cp:revision>
  <cp:lastPrinted>2024-07-09T18:33:50Z</cp:lastPrinted>
  <dcterms:created xsi:type="dcterms:W3CDTF">2024-07-09T16:54:58Z</dcterms:created>
  <dcterms:modified xsi:type="dcterms:W3CDTF">2026-09-08T22:04:10Z</dcterms:modified>
</cp:coreProperties>
</file>